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80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47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Permiso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863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paraliza la obra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426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norma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502920" cy="256032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642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días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CChC (promedio real)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32004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04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848 días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27249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Colliers / Portal Inmobiliario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1874520" cy="256032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443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465 días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" y="38587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revisiones explican &gt;70% del tiempo de tramitación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4462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CChC Observatorio · Colliers/PortalInmobiliario · MINVU DDU-ESP-019-09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023360" y="347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financiero real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23360" y="731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escenarios calculados sobre demoras reales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1188720"/>
            <a:ext cx="4663440" cy="1133856"/>
          </a:xfrm>
          <a:prstGeom prst="roundRect">
            <a:avLst>
              <a:gd name="adj" fmla="val 8065"/>
            </a:avLst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Edificio colectivo — 9 pisos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79392" y="1536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UF 207.360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92240" y="12435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+UF 16.589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92240" y="16276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del presupuesto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79392" y="1810512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costo financiero por retraso de 753 días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23360" y="2450592"/>
            <a:ext cx="4663440" cy="1133856"/>
          </a:xfrm>
          <a:prstGeom prst="roundRect">
            <a:avLst>
              <a:gd name="adj" fmla="val 8065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9392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Ampliación comercial &lt; 100 m²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79392" y="2798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UF 2.400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92240" y="25054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 6.000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92240" y="28895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+250% del proyecto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79392" y="3072384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ventas perdidas (6 meses de cierre de tienda en mall)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023360" y="3712464"/>
            <a:ext cx="4663440" cy="1133856"/>
          </a:xfrm>
          <a:prstGeom prst="roundRect">
            <a:avLst>
              <a:gd name="adj" fmla="val 8065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9392" y="3803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Vivienda particular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79392" y="4059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UF 5.000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92240" y="37673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+UF 745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92240" y="4151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del presupuesto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79392" y="4334256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en espera + arriendo del propietario por 6 meses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 competitiva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proyecto analizado por ArchiCheck y Revi · comparación directa, no opinión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1417320" cy="292608"/>
          </a:xfrm>
          <a:prstGeom prst="roundRect">
            <a:avLst>
              <a:gd name="adj" fmla="val 3125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89611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0" y="859536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859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ArchiCheck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08960" y="859536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859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 (CChC)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89120" y="859536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859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Revisor manual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188720"/>
            <a:ext cx="1417320" cy="310896"/>
          </a:xfrm>
          <a:prstGeom prst="roundRect">
            <a:avLst>
              <a:gd name="adj" fmla="val 2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23444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del plano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0" y="1188720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83664" y="122529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Geometría real medida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108960" y="1188720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3824" y="122529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coteja números escritos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389120" y="1188720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3984" y="122529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Sí, manual y variable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1536192"/>
            <a:ext cx="141732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5819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Normativa local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0" y="1536192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83664" y="157276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OGUC · DDU · PRC · LGUC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108960" y="1536192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63824" y="157276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Admin. solo (Art. 5.1.4/5.1.6)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389120" y="1536192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157276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por persona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" y="1883664"/>
            <a:ext cx="1417320" cy="310896"/>
          </a:xfrm>
          <a:prstGeom prst="roundRect">
            <a:avLst>
              <a:gd name="adj" fmla="val 2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192938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0" y="1883664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83664" y="192024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Minutos · 7×24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108960" y="1883664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192024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Minutos · 7×24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389120" y="1883664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43984" y="192024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a semanas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65760" y="2231136"/>
            <a:ext cx="141732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227685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828800" y="2231136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83664" y="226771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igual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08960" y="2231136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63824" y="226771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igual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2231136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3984" y="226771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Varía por revisor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65760" y="2578608"/>
            <a:ext cx="1417320" cy="310896"/>
          </a:xfrm>
          <a:prstGeom prst="roundRect">
            <a:avLst>
              <a:gd name="adj" fmla="val 2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262432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/ feedback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828800" y="2578608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83664" y="261518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Mejora con cada revisión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108960" y="2578608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63824" y="261518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Estático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389120" y="2578608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43984" y="261518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Individual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5760" y="2926080"/>
            <a:ext cx="141732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" y="297180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828800" y="2926080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83664" y="296265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100/expediente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108960" y="2926080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63824" y="296265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Incluido (gremial)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389120" y="2926080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43984" y="296265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USD 300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5760" y="3310128"/>
            <a:ext cx="5120640" cy="256032"/>
          </a:xfrm>
          <a:prstGeom prst="roundRect">
            <a:avLst>
              <a:gd name="adj" fmla="val 14286"/>
            </a:avLst>
          </a:prstGeom>
          <a:solidFill>
            <a:srgbClr val="FEF3E2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332841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directa: 40 hallazgos ArchiCheck vs 7 de Revi en el mismo proyecto · 24/24 normas urbanísticas marcadas "no revisado" por Revi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669280" y="8595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669280" y="1133856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79008" y="118872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online rápido, preciso e iterativo que contrasta el expediente completo contra la normativa vigente artículo por artículo: OGUC · LGUC · DDU · PRC comunal.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 7×24 desde el anteproyecto.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669280" y="19568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669280" y="2212848"/>
            <a:ext cx="3017520" cy="402336"/>
          </a:xfrm>
          <a:prstGeom prst="roundRect">
            <a:avLst>
              <a:gd name="adj" fmla="val 22727"/>
            </a:avLst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60720" y="224942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computacional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830568" y="2267712"/>
            <a:ext cx="0" cy="292608"/>
          </a:xfrm>
          <a:prstGeom prst="line">
            <a:avLst/>
          </a:prstGeom>
          <a:noFill/>
          <a:ln w="12700">
            <a:solidFill>
              <a:srgbClr val="00879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31152" y="22494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· U-Net · DINO · SAM 2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669280" y="2651760"/>
            <a:ext cx="3017520" cy="402336"/>
          </a:xfrm>
          <a:prstGeom prst="roundRect">
            <a:avLst>
              <a:gd name="adj" fmla="val 22727"/>
            </a:avLst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60720" y="2688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 cognitiva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830568" y="2706624"/>
            <a:ext cx="0" cy="292608"/>
          </a:xfrm>
          <a:prstGeom prst="line">
            <a:avLst/>
          </a:prstGeom>
          <a:noFill/>
          <a:ln w="12700">
            <a:solidFill>
              <a:srgbClr val="00879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31152" y="26883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+ GPT-4o · cotas · usos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669280" y="3090672"/>
            <a:ext cx="3017520" cy="402336"/>
          </a:xfrm>
          <a:prstGeom prst="roundRect">
            <a:avLst>
              <a:gd name="adj" fmla="val 22727"/>
            </a:avLst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60720" y="31272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normativo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830568" y="3145536"/>
            <a:ext cx="0" cy="292608"/>
          </a:xfrm>
          <a:prstGeom prst="line">
            <a:avLst/>
          </a:prstGeom>
          <a:noFill/>
          <a:ln w="12700">
            <a:solidFill>
              <a:srgbClr val="00879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31152" y="31272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+ JSON · artículo por artículo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5669280" y="3529584"/>
            <a:ext cx="3017520" cy="402336"/>
          </a:xfrm>
          <a:prstGeom prst="roundRect">
            <a:avLst>
              <a:gd name="adj" fmla="val 22727"/>
            </a:avLst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60720" y="35661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local único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830568" y="3584448"/>
            <a:ext cx="0" cy="292608"/>
          </a:xfrm>
          <a:prstGeom prst="line">
            <a:avLst/>
          </a:prstGeom>
          <a:noFill/>
          <a:ln w="12700">
            <a:solidFill>
              <a:srgbClr val="00879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931152" y="35661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MLSTRUCT-FP · 954 planos chilenos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365760" y="36210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técnico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65760" y="3858768"/>
            <a:ext cx="2697480" cy="786384"/>
          </a:xfrm>
          <a:prstGeom prst="roundRect">
            <a:avLst>
              <a:gd name="adj" fmla="val 9302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5488" y="3895344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Completado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475488" y="407822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1–3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75488" y="4242816"/>
            <a:ext cx="2487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Motor normativo OGUC/DDU/PRC · OpenCV + DINO/SAM2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75488" y="4407408"/>
            <a:ext cx="2487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Precisión geométrica ~75–80%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3081528" y="4096512"/>
            <a:ext cx="109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3200400" y="3858768"/>
            <a:ext cx="2697480" cy="786384"/>
          </a:xfrm>
          <a:prstGeom prst="roundRect">
            <a:avLst>
              <a:gd name="adj" fmla="val 9302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310128" y="3895344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Ignite — próximos 4 meses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3310128" y="407822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3b + 4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3310128" y="4242816"/>
            <a:ext cx="2487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U-Net + MLSTRUCT-FP entrenado · IoU ≥ 0.90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310128" y="4407408"/>
            <a:ext cx="2487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Validación con arquitectos · 10 comunas RM · ≥90% precisión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5916168" y="4096512"/>
            <a:ext cx="109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6035040" y="3858768"/>
            <a:ext cx="2697480" cy="786384"/>
          </a:xfrm>
          <a:prstGeom prst="roundRect">
            <a:avLst>
              <a:gd name="adj" fmla="val 9302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144768" y="3895344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Escala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6144768" y="407822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Post-Ignite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144768" y="4242816"/>
            <a:ext cx="2487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Multi-documento · más comunas · revisores privados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6144768" y="4407408"/>
            <a:ext cx="2487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CChC canal · municipios B2G · Latam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365760" y="4663440"/>
            <a:ext cx="8321040" cy="310896"/>
          </a:xfrm>
          <a:prstGeom prst="roundRect">
            <a:avLst>
              <a:gd name="adj" fmla="val 29412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65760" y="466344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solo IA — aprende con cada revisión · mejora incremental · siempre es la misma para el arquitecto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valor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Revisión normativa automatizada de planos: OGUC · LGUC · DDU · PRC comunal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Detecta lo que la DOM observará antes de presentar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7×24, desde el anteproyecto, en minutos · USD 100/expediente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objetivo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EAF7F9"/>
          </a:solidFill>
          <a:ln w="12700">
            <a:solidFill>
              <a:srgbClr val="EAF7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07899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adopter: estudios 1–5 personas, sin revisor interno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51760" y="1362456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Core: estudios medianos con volumen recurrente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1645920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Canal: constructoras con arquitectos internos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51760" y="1929384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Revisores privados: escalan su capacidad con ArchiCheck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51760" y="2212848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B2B Canal: CChC · revisión de planos para Revi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5488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 de distribución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0789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AOA + Colegio de Arquitectos (canal institucional directo)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5544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Referidos entre estudios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202996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 Construcción · ferias de industria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4944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ingresos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FEF9EF"/>
          </a:solidFill>
          <a:ln w="12700">
            <a:solidFill>
              <a:srgbClr val="FEF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07899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Fijo por proyecto: USD 50–100/expediente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040880" y="1362456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Suscripción mensual: USD 300/mes ilimitado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040880" y="1645920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% del valor del proyecto (a validar)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040880" y="1929384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B2G (Etapa 2): SaaS municipios · FNDR/FIC-R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040880" y="2212848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★ Estrategia de precio: en validación con primeros clientes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65760" y="2724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0175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05409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2552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6,0M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57200" y="35661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60.000 expedientes × USD 100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084832" y="30175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76272" y="305409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76272" y="32552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3,8M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2176272" y="35661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38.400 expedientes (−obras menores, −resto RM)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803904" y="30175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95344" y="305409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95344" y="32552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600K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3895344" y="35661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6.000 expedientes · 3 años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559552" y="272491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59552" y="3017520"/>
            <a:ext cx="3127248" cy="1170432"/>
          </a:xfrm>
          <a:prstGeom prst="roundRect">
            <a:avLst>
              <a:gd name="adj" fmla="val 781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50992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14032" y="309067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7.000/estudio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50992" y="33649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(hipótesis)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14032" y="33649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300/estudio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5099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/ CAC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14032" y="36393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23×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50992" y="39136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mes 12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14032" y="39136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15.750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39867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4279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" y="43159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75488" y="45537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estudios · Canal AOA y Colegio · 20 comunas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00400" y="4279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0128" y="43159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2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310128" y="45537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estudios · FIC-R/FNDR · inicio Latam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035040" y="4279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44768" y="43159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3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144768" y="45537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Latam · Perú, Colombia, Argentina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Tracción · Equipo ·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en producción — caso real documentado — sin ventas aún · Ignite nos lleva de validación técnica a primeros clientes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241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09344" y="10789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 · informe real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 Providencia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987552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3552" y="10241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43984" y="10789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detectados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7 de Revi · mismo caso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987552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08192" y="10241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278624" y="10789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chilenos 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propio (MLSTRUCT-FP)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0665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432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Estragues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" y="2670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· Team Leader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Civil Industrial + Magíster Marketing (U. de Chile) · 23 años en desarrollo de producto, fintech y expansión Latam · Full-time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237744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2432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Cristian Wrbka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28416" y="2670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Expert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2841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Arquitectura UC · 20 años en proyectos de innovación y redes de industria · Acceso AOA + Colegio de Arquitectos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35040" y="237744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2432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Allué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63056" y="2670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6305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años preparando expedientes y enfrentando revisiones DOM · Conoce los criterios reales desde adentro · Validó el motor normativo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60273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logramos en los 4 meses de Ignite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895344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38912" y="4334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activos pagando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14600" y="3895344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587752" y="4334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comunas RM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motor normativo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3895344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6K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736592" y="4334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al cierre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programa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12280" y="3895344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85432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≥90%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885432" y="4334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validada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arquitectos reales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4773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974336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98348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MVP · estudios de arquitectura · OGUC / DDU / PRC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0" y="4974336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498348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Ignite: PMF · revisores privados · multi-documento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035040" y="4974336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498348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Escala: CChC / B2B canal · municipios B2G · Latam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2026-07-01T22:46:34Z</dcterms:created>
  <dcterms:modified xsi:type="dcterms:W3CDTF">2026-07-01T22:46:34Z</dcterms:modified>
</cp:coreProperties>
</file>