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letter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127E73-E9CD-45F9-0F23-47567EB3E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AB49B6-98D5-F454-1F18-1531224EB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F4C3CD-CAB1-049C-A31F-1956635B3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AA2DB-D51D-4856-9A70-DF9479190DC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F50FFD-C512-D316-9885-D5CFB1B6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83EB9E-0FA2-E9FE-8148-A6385A6F9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BDA60-94F7-463A-B39F-1710457134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68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974332-F5A2-381B-6ED8-548A389BB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2873FE-85C2-129D-3704-C656997A2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88E009-50DA-8AE6-F62A-A96B6F697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AA2DB-D51D-4856-9A70-DF9479190DC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FD282D-AB32-4F3D-EA1F-583C0E272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FBABB9-9741-8653-A132-815CAF834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BDA60-94F7-463A-B39F-1710457134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36549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42EC9E-AF38-98F7-B6D7-95E484A61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438537-134C-0AB5-7CDE-AA8290CF6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B6B6BA-055D-F2BB-B669-FBFF65C19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AA2DB-D51D-4856-9A70-DF9479190DC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0AA6BB-390C-A3A7-634B-17A2FE345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8139CB-A1FE-9DC3-A49E-5FDAEC8B6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BDA60-94F7-463A-B39F-1710457134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72087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C993B8-E604-DB38-1754-2F1733DEA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A62242-CF6E-3D24-15D6-5B10E87D82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798E00-524D-AA92-7C45-78829D53D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C58B1A-45F7-65C4-625F-498662707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AA2DB-D51D-4856-9A70-DF9479190DC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5CE4FC-00B3-0ACC-A350-8C95F60BF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5FCD0F-BFB8-BC8F-D5BF-B4D72C4D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BDA60-94F7-463A-B39F-1710457134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523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57F746-13D1-C2D1-2C59-1AC7D4E3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5ACEEC-84C9-FF28-F285-83AB1567A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E56A11-1B60-1D5B-7AA4-269A6C532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9DC6745-D43F-29B6-E1EE-BA8ACA766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A6548D6-7983-9D34-A304-C229D17FD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EA7CE26-AE38-00BA-576C-AA5C284F2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AA2DB-D51D-4856-9A70-DF9479190DC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C3A3F64-540C-0349-7CB0-882A51956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8DB0564-A0F5-7E90-BE78-E88EDD413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BDA60-94F7-463A-B39F-1710457134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15623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CDC7F-A6D2-25B4-E6A7-3C6310982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E468168-DC2D-BC22-C0FD-A6079A02E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AA2DB-D51D-4856-9A70-DF9479190DC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81B536F-63A6-7EAE-0A30-44E3E73DD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FE2C94C-E82C-909C-1A2A-573671F06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BDA60-94F7-463A-B39F-1710457134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0787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A58C117-1CAD-8460-F18C-6939B6ECC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AA2DB-D51D-4856-9A70-DF9479190DC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81A190A-0D39-4784-6F8E-886797D1A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6DEF53-D4B0-0ABC-F83A-B37CBB2E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BDA60-94F7-463A-B39F-1710457134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16312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61C1C-B78E-7046-193D-D69FF9AB9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99CF23-585D-4E83-A8FB-D0F2D354B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BE091D9-AE38-87D1-3B5B-E91876E67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03322DA-82E6-409F-0F8B-84F847AC8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AA2DB-D51D-4856-9A70-DF9479190DC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991C69-0718-8DA5-4A8E-7CFAEC3C4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BE87B5-560F-294F-B4B3-ACD9D0589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BDA60-94F7-463A-B39F-1710457134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5357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DE844C-43B4-F05F-E08F-566FE769F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62868CE-9AFA-A8C4-EF79-93BEB7CA5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6CD954-61DA-5E3F-E6E4-0AD95309B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4E2799-F713-1FB1-DF65-9EA5048F3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AA2DB-D51D-4856-9A70-DF9479190DC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33A44F-3291-C49A-54B8-633582031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BF531F-3279-3BEB-D7C4-6874B2467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BDA60-94F7-463A-B39F-1710457134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5227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C0FF13-13B2-2C27-D4C8-AF1A33DDE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C242A3-3D65-E0A1-4FA8-CAE1B326C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DCD89F-4D9E-697B-4EDE-FE022D5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AA2DB-D51D-4856-9A70-DF9479190DC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934991-5121-C010-7C5F-55E595E00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6F7E90-BD79-D5A0-F282-8CF1A741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BDA60-94F7-463A-B39F-1710457134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9451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A2E96FF-0577-F3FE-4CF8-66D48EA3B0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8B6624B-90B9-DEE0-F271-7ED1EDB6A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866F34-590A-AB5D-FB5B-C18978600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AA2DB-D51D-4856-9A70-DF9479190DC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D0343A-E8CC-4F94-8FA8-4A35D488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E2650-C926-4112-63A0-67550CB2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BDA60-94F7-463A-B39F-1710457134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5497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109DDF-F38A-525C-A328-AAE2968A9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EC374B-F810-459B-BA93-B93E5DBD0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E51004-1B0E-5889-A92D-B3A3E8899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AA2DB-D51D-4856-9A70-DF9479190DC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B7E32F-6A94-9838-B82B-F840840C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067B44-0CB7-A90F-7143-92066D6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BDA60-94F7-463A-B39F-1710457134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6264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4EF33A6-14F1-C611-22F5-B251FABC0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968294-708B-D54A-A502-62E540BB1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34DDED-F889-051F-8FA0-120CC85F34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4AA2DB-D51D-4856-9A70-DF9479190DC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D5B69B-D122-4D5F-21B0-C835DEFDF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CFC878-EAEB-1926-45A5-D40060AB77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4BDA60-94F7-463A-B39F-1710457134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53570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F29B01-D3C3-F202-872C-DFA5932809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L" sz="4400" b="1">
                <a:solidFill>
                  <a:srgbClr val="EA8832"/>
                </a:solidFill>
              </a:rPr>
              <a:t>ArchiCheck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B3654D-5C67-356D-63C1-12EF1BF79E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s-CL" sz="2000"/>
              <a:t>IA que revisa planos arquitectonicos contra la normativa vigente, antes de llegar a la DOM</a:t>
            </a:r>
          </a:p>
          <a:p>
            <a:endParaRPr lang="es-CL" sz="2000"/>
          </a:p>
          <a:p>
            <a:r>
              <a:rPr lang="es-CL" sz="2000"/>
              <a:t>NML SpA - Nunoa, Region Metropolitana, Chile - archicheck-xi.vercel.app</a:t>
            </a:r>
          </a:p>
        </p:txBody>
      </p:sp>
    </p:spTree>
    <p:extLst>
      <p:ext uri="{BB962C8B-B14F-4D97-AF65-F5344CB8AC3E}">
        <p14:creationId xmlns:p14="http://schemas.microsoft.com/office/powerpoint/2010/main" val="2842642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78A63-59A9-D909-14AA-5A5485965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800" b="1">
                <a:solidFill>
                  <a:srgbClr val="EA8832"/>
                </a:solidFill>
              </a:rPr>
              <a:t>El problema: el permiso paraliza la obra</a:t>
            </a:r>
            <a:endParaRPr lang="es-CL" sz="2800" b="1">
              <a:solidFill>
                <a:srgbClr val="EA8832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8D08FD-DC9B-41BF-17A6-37B5CE82C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1600"/>
              <a:t>Norma exige 95 dias - CChC observa un promedio real muy superior</a:t>
            </a:r>
          </a:p>
          <a:p>
            <a:r>
              <a:rPr lang="es-ES" sz="1600"/>
              <a:t>Colliers / Portal Inmobiliario reporta 848 dias de tramitacion</a:t>
            </a:r>
          </a:p>
          <a:p>
            <a:r>
              <a:rPr lang="es-ES" sz="1600"/>
              <a:t>Declarado oficialmente en la postulacion: mas de 800 dias</a:t>
            </a:r>
          </a:p>
          <a:p>
            <a:r>
              <a:rPr lang="es-ES" sz="1600"/>
              <a:t>Las revisiones (independientes + DOM) explican mas del 70% de ese tiempo</a:t>
            </a:r>
          </a:p>
          <a:p>
            <a:endParaRPr lang="es-ES" sz="1600"/>
          </a:p>
          <a:p>
            <a:r>
              <a:rPr lang="es-ES" sz="1600"/>
              <a:t>Impacto real:</a:t>
            </a:r>
          </a:p>
          <a:p>
            <a:r>
              <a:rPr lang="es-ES" sz="1600"/>
              <a:t>Edificio 9 pisos (UF 207.360): +UF 16.589 (+8%) en costo financiero por 753 dias de atraso</a:t>
            </a:r>
          </a:p>
          <a:p>
            <a:r>
              <a:rPr lang="es-ES" sz="1600"/>
              <a:t>Ampliacion comercial menor a 100 m2 (UF 2.400): UF 6.000 (+250%) en ventas perdidas por 6 meses de cierre</a:t>
            </a:r>
          </a:p>
          <a:p>
            <a:r>
              <a:rPr lang="es-ES" sz="1600"/>
              <a:t>Vivienda particular (UF 5.000): +UF 745 (+15%) en arriendo y equipo en espera por 6 meses</a:t>
            </a:r>
            <a:endParaRPr lang="es-CL" sz="1600"/>
          </a:p>
        </p:txBody>
      </p:sp>
    </p:spTree>
    <p:extLst>
      <p:ext uri="{BB962C8B-B14F-4D97-AF65-F5344CB8AC3E}">
        <p14:creationId xmlns:p14="http://schemas.microsoft.com/office/powerpoint/2010/main" val="3094758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FAF0C-2BFB-8ADA-A3CA-4DC740DAA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b="1">
                <a:solidFill>
                  <a:srgbClr val="EA8832"/>
                </a:solidFill>
              </a:rPr>
              <a:t>La solucion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70350E-1D73-9D60-32AD-78C30CA54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1800"/>
              <a:t>Lee la geometria del plano (muros, recintos, puertas, ventanas, cotas)</a:t>
            </a:r>
          </a:p>
          <a:p>
            <a:r>
              <a:rPr lang="es-ES" sz="1800"/>
              <a:t>Contrasta articulo por articulo contra OGUC, LGUC, DDU y PRC comunal</a:t>
            </a:r>
          </a:p>
          <a:p>
            <a:r>
              <a:rPr lang="es-ES" sz="1800"/>
              <a:t>Disponible 24/7 desde la etapa de anteproyecto - no solo antes del ingreso</a:t>
            </a:r>
          </a:p>
          <a:p>
            <a:r>
              <a:rPr lang="es-ES" sz="1800"/>
              <a:t>Reanalisis ilimitado: incorpora el feedback del arquitecto en revisiones futuras</a:t>
            </a:r>
          </a:p>
          <a:p>
            <a:r>
              <a:rPr lang="es-ES" sz="1800"/>
              <a:t>Dataset propio de 954 planos chilenos (MLSTRUCT-FP) para convenciones locales</a:t>
            </a:r>
          </a:p>
          <a:p>
            <a:endParaRPr lang="es-ES" sz="1800"/>
          </a:p>
          <a:p>
            <a:r>
              <a:rPr lang="es-ES" sz="1800"/>
              <a:t>Caso piloto directo contra Revi (plataforma de la CChC), mismo proyecto:</a:t>
            </a:r>
          </a:p>
          <a:p>
            <a:r>
              <a:rPr lang="es-ES" sz="1800"/>
              <a:t>ArchiCheck: 40 hallazgos  -  Revi: 7 hallazgos</a:t>
            </a:r>
            <a:endParaRPr lang="es-CL" sz="1800"/>
          </a:p>
        </p:txBody>
      </p:sp>
    </p:spTree>
    <p:extLst>
      <p:ext uri="{BB962C8B-B14F-4D97-AF65-F5344CB8AC3E}">
        <p14:creationId xmlns:p14="http://schemas.microsoft.com/office/powerpoint/2010/main" val="3381089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F33BDE-C966-DDB9-8D19-2F7645CE5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b="1">
                <a:solidFill>
                  <a:srgbClr val="EA8832"/>
                </a:solidFill>
              </a:rPr>
              <a:t>Oferta actual en Chile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87CC6D-E32E-B8BA-5A28-1F4DA06B2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1600"/>
              <a:t>Revi (CChC): revisa consistencia y contenido documental. Rapido y 24x7, pero analisis de plano basico e inexacto. Incluido en la CChC.</a:t>
            </a:r>
          </a:p>
          <a:p>
            <a:r>
              <a:rPr lang="es-ES" sz="1600"/>
              <a:t>Revisor independiente: revision manual articulo por articulo, profundidad tecnica real. Lento, varia por persona, tiempo incierto. Precio: 0,5% del proyecto completo.</a:t>
            </a:r>
          </a:p>
          <a:p>
            <a:r>
              <a:rPr lang="es-ES" sz="1600"/>
              <a:t>Herramientas globales (Archistar AI PreCheck, CodeComply.ai, CivCheck, Blitz AI): sin presencia en Chile ni cruce con normativa local.</a:t>
            </a:r>
            <a:endParaRPr lang="es-CL" sz="1600"/>
          </a:p>
        </p:txBody>
      </p:sp>
    </p:spTree>
    <p:extLst>
      <p:ext uri="{BB962C8B-B14F-4D97-AF65-F5344CB8AC3E}">
        <p14:creationId xmlns:p14="http://schemas.microsoft.com/office/powerpoint/2010/main" val="1778153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14CB8-A33A-3C9B-5180-09294C6B0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b="1">
                <a:solidFill>
                  <a:srgbClr val="EA8832"/>
                </a:solidFill>
              </a:rPr>
              <a:t>Mercado (Chile)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B6FC22-766B-37EF-8800-64CC127C5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1800"/>
              <a:t>TAM: USD 6,0M/ano  -  60.000 expedientes/ano x USD 100</a:t>
            </a:r>
          </a:p>
          <a:p>
            <a:r>
              <a:rPr lang="pt-BR" sz="1800"/>
              <a:t>SAM: USD 3,8M/ano  -  38.400 expedientes (excluye obras menores)</a:t>
            </a:r>
          </a:p>
          <a:p>
            <a:r>
              <a:rPr lang="pt-BR" sz="1800"/>
              <a:t>SOM: USD 600K/ano  -  meta a 3 anos</a:t>
            </a:r>
          </a:p>
          <a:p>
            <a:endParaRPr lang="pt-BR" sz="1800"/>
          </a:p>
          <a:p>
            <a:r>
              <a:rPr lang="pt-BR" sz="1800"/>
              <a:t>Go-to-market:</a:t>
            </a:r>
          </a:p>
          <a:p>
            <a:r>
              <a:rPr lang="pt-BR" sz="1800"/>
              <a:t>Ano 1: 20 estudios via canal AOA y Colegio de Arquitectos - 20 comunas</a:t>
            </a:r>
          </a:p>
          <a:p>
            <a:r>
              <a:rPr lang="pt-BR" sz="1800"/>
              <a:t>Ano 2: 70 estudios - municipios via FIC-R/FNDR - inicio Latam</a:t>
            </a:r>
          </a:p>
          <a:p>
            <a:r>
              <a:rPr lang="pt-BR" sz="1800"/>
              <a:t>Ano 3: expansion Latam - Peru, Colombia, Argentina</a:t>
            </a:r>
            <a:endParaRPr lang="es-CL" sz="1800"/>
          </a:p>
        </p:txBody>
      </p:sp>
    </p:spTree>
    <p:extLst>
      <p:ext uri="{BB962C8B-B14F-4D97-AF65-F5344CB8AC3E}">
        <p14:creationId xmlns:p14="http://schemas.microsoft.com/office/powerpoint/2010/main" val="1874131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AA1CE-CFBC-52D3-CB17-E694EF9F0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b="1">
                <a:solidFill>
                  <a:srgbClr val="EA8832"/>
                </a:solidFill>
              </a:rPr>
              <a:t>Modelo de negocio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8545CB-9FBB-4721-77DC-B581AF424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L" sz="1600"/>
              <a:t>Segmentos: estudios pequenos-medianos (early adopters), estudios grandes con volumen recurrente, revisores independientes, CChC/Revi</a:t>
            </a:r>
          </a:p>
          <a:p>
            <a:r>
              <a:rPr lang="es-CL" sz="1600"/>
              <a:t>Canales: AOA + Colegio de Arquitectos (directo), referidos, ferias de industria</a:t>
            </a:r>
          </a:p>
          <a:p>
            <a:r>
              <a:rPr lang="es-CL" sz="1600"/>
              <a:t>Revenue: USD 50-100 por expediente, o suscripcion USD 500/mes ilimitado. Via B2G futura (municipios, FNDR/FIC-R). Precio final por validar con primeros clientes.</a:t>
            </a:r>
          </a:p>
          <a:p>
            <a:endParaRPr lang="es-CL" sz="1600"/>
          </a:p>
          <a:p>
            <a:r>
              <a:rPr lang="es-CL" sz="1600"/>
              <a:t>Unit economics: LTV USD 7.000/estudio - CAC USD 300/estudio (hipotesis) - LTV/CAC 23x - MRR mes 12 (modelo anual) USD 15.750</a:t>
            </a:r>
          </a:p>
        </p:txBody>
      </p:sp>
    </p:spTree>
    <p:extLst>
      <p:ext uri="{BB962C8B-B14F-4D97-AF65-F5344CB8AC3E}">
        <p14:creationId xmlns:p14="http://schemas.microsoft.com/office/powerpoint/2010/main" val="952019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FD69D-2355-F6EA-D18E-33B560A4E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b="1">
                <a:solidFill>
                  <a:srgbClr val="EA8832"/>
                </a:solidFill>
              </a:rPr>
              <a:t>Traccion y roadmap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894014-FC4F-3530-7F63-80979326F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L" sz="1700"/>
              <a:t>Completado: motor normativo OGUC/DDU/PRC - vectorizacion geometrica - deteccion de elementos - precision ~75-80%</a:t>
            </a:r>
          </a:p>
          <a:p>
            <a:r>
              <a:rPr lang="es-CL" sz="1700"/>
              <a:t>Ignite (proximos 4 meses): validacion con arquitectos reales - 10 comunas RM - multi-documento</a:t>
            </a:r>
          </a:p>
          <a:p>
            <a:r>
              <a:rPr lang="es-CL" sz="1700"/>
              <a:t>Post-Ignite: escala con revisores privados, canal CChC, municipios B2G, expansion Latam</a:t>
            </a:r>
          </a:p>
          <a:p>
            <a:endParaRPr lang="es-CL" sz="1700"/>
          </a:p>
          <a:p>
            <a:r>
              <a:rPr lang="es-CL" sz="1700"/>
              <a:t>Metas concretas a 4 meses (Ignite):</a:t>
            </a:r>
          </a:p>
          <a:p>
            <a:r>
              <a:rPr lang="es-CL" sz="1700"/>
              <a:t>10 estudios de arquitectura activos  -  10 comunas RM incorporadas  -  MRR USD 6.000  -  precision &gt;=90% validada</a:t>
            </a:r>
          </a:p>
        </p:txBody>
      </p:sp>
    </p:spTree>
    <p:extLst>
      <p:ext uri="{BB962C8B-B14F-4D97-AF65-F5344CB8AC3E}">
        <p14:creationId xmlns:p14="http://schemas.microsoft.com/office/powerpoint/2010/main" val="1654758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8BEFF-A4F3-DE60-E1AD-C26E7868D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b="1">
                <a:solidFill>
                  <a:srgbClr val="EA8832"/>
                </a:solidFill>
              </a:rPr>
              <a:t>Equipo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5FB817-5184-1460-CDB9-DAE6BFA4D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L" sz="1500"/>
              <a:t>Nicolas Estragues - CEO / Team Leader (100% full-time)</a:t>
            </a:r>
          </a:p>
          <a:p>
            <a:r>
              <a:rPr lang="es-CL" sz="1500"/>
              <a:t>Ing. Civil Industrial + Magister en Marketing y Gestion Comercial (U. de Chile) - 23 anos de experiencia en desarrollo de producto, fintech y expansion de mercado</a:t>
            </a:r>
          </a:p>
          <a:p>
            <a:endParaRPr lang="es-CL" sz="1500"/>
          </a:p>
          <a:p>
            <a:r>
              <a:rPr lang="es-CL" sz="1500"/>
              <a:t>Cristian Wrbka - Industry Expert (menos de 20% dedicacion)</a:t>
            </a:r>
          </a:p>
          <a:p>
            <a:r>
              <a:rPr lang="es-CL" sz="1500"/>
              <a:t>Magister en Arquitectura (UC) - 20 anos en proyectos de innovacion y redes de industria - acceso AOA + Colegio de Arquitectos</a:t>
            </a:r>
          </a:p>
          <a:p>
            <a:endParaRPr lang="es-CL" sz="1500"/>
          </a:p>
          <a:p>
            <a:r>
              <a:rPr lang="es-CL" sz="1500"/>
              <a:t>Jose Allue - CPO (menos de 20% dedicacion)</a:t>
            </a:r>
          </a:p>
          <a:p>
            <a:r>
              <a:rPr lang="es-CL" sz="1500"/>
              <a:t>18 anos preparando expedientes y enfrentando revisiones DOM en la practica - valido el motor normativo</a:t>
            </a:r>
          </a:p>
          <a:p>
            <a:endParaRPr lang="es-CL" sz="1500"/>
          </a:p>
          <a:p>
            <a:r>
              <a:rPr lang="es-CL" sz="1500"/>
              <a:t>Cap table: Nicolas Estragues 100% - Cristian Wrbka 0% - Jose Allue 0%</a:t>
            </a:r>
          </a:p>
        </p:txBody>
      </p:sp>
    </p:spTree>
    <p:extLst>
      <p:ext uri="{BB962C8B-B14F-4D97-AF65-F5344CB8AC3E}">
        <p14:creationId xmlns:p14="http://schemas.microsoft.com/office/powerpoint/2010/main" val="3057543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A426D-3EF1-1CC0-7CAB-F05C0E6B1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b="1">
                <a:solidFill>
                  <a:srgbClr val="EA8832"/>
                </a:solidFill>
              </a:rPr>
              <a:t>Financiamiento y contacto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7B6D0F-672F-105C-0B9F-7FBC519E5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L" sz="1800"/>
              <a:t>USD 31.000 (CLP 30MM) Start-Up Chile, linea Ignite - postulado, pendiente de resultado</a:t>
            </a:r>
          </a:p>
          <a:p>
            <a:r>
              <a:rPr lang="es-CL" sz="1800"/>
              <a:t>USD 8.000 inversionista angel - en conversacion, no cerrado</a:t>
            </a:r>
          </a:p>
          <a:p>
            <a:r>
              <a:rPr lang="es-CL" sz="1800"/>
              <a:t>Sin capital previo levantado - sin deuda - sin valorizacion formal</a:t>
            </a:r>
          </a:p>
          <a:p>
            <a:endParaRPr lang="es-CL" sz="1800"/>
          </a:p>
          <a:p>
            <a:r>
              <a:rPr lang="es-CL" sz="1800"/>
              <a:t>NML SpA - RUT 77.860.293-8 - Nunoa, Region Metropolitana</a:t>
            </a:r>
          </a:p>
          <a:p>
            <a:r>
              <a:rPr lang="es-CL" sz="1800"/>
              <a:t>archicheck-xi.vercel.app</a:t>
            </a:r>
          </a:p>
          <a:p>
            <a:r>
              <a:rPr lang="es-CL" sz="1800"/>
              <a:t>nestragues@gmail.com</a:t>
            </a:r>
          </a:p>
        </p:txBody>
      </p:sp>
    </p:spTree>
    <p:extLst>
      <p:ext uri="{BB962C8B-B14F-4D97-AF65-F5344CB8AC3E}">
        <p14:creationId xmlns:p14="http://schemas.microsoft.com/office/powerpoint/2010/main" val="18603592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788</Words>
  <Application>Microsoft Office PowerPoint</Application>
  <PresentationFormat>Carta (216 x 279 mm)</PresentationFormat>
  <Paragraphs>68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</vt:lpstr>
      <vt:lpstr>ArchiCheck</vt:lpstr>
      <vt:lpstr>El problema: el permiso paraliza la obra</vt:lpstr>
      <vt:lpstr>La solucion</vt:lpstr>
      <vt:lpstr>Oferta actual en Chile</vt:lpstr>
      <vt:lpstr>Mercado (Chile)</vt:lpstr>
      <vt:lpstr>Modelo de negocio</vt:lpstr>
      <vt:lpstr>Traccion y roadmap</vt:lpstr>
      <vt:lpstr>Equipo</vt:lpstr>
      <vt:lpstr>Financiamiento y contacto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Nicolás Estragues Nuñez</dc:creator>
  <cp:lastModifiedBy>Nicolás Estragues Nuñez</cp:lastModifiedBy>
  <cp:revision>1</cp:revision>
  <dcterms:created xsi:type="dcterms:W3CDTF">2026-08-11T02:34:26Z</dcterms:created>
  <dcterms:modified xsi:type="dcterms:W3CDTF">2026-08-11T02:34:26Z</dcterms:modified>
</cp:coreProperties>
</file>