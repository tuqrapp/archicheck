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colas.estragues\Documents\Claude\archicheck\Startup%20Chile\IArq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Revi vs Archicheck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Hoja1!$D$3</c:f>
              <c:strCache>
                <c:ptCount val="1"/>
                <c:pt idx="0">
                  <c:v>Revi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Hoja1!$B$4:$B$11</c:f>
              <c:strCache>
                <c:ptCount val="8"/>
                <c:pt idx="0">
                  <c:v>Consistencia y Coherencia</c:v>
                </c:pt>
                <c:pt idx="1">
                  <c:v>Observaciones básicas</c:v>
                </c:pt>
                <c:pt idx="2">
                  <c:v>Lectura de planos</c:v>
                </c:pt>
                <c:pt idx="3">
                  <c:v>Datos en planos</c:v>
                </c:pt>
                <c:pt idx="4">
                  <c:v>Analisis espacial</c:v>
                </c:pt>
                <c:pt idx="5">
                  <c:v>Observaciones espaciales</c:v>
                </c:pt>
                <c:pt idx="6">
                  <c:v>Admisibilidad y Concordancia</c:v>
                </c:pt>
                <c:pt idx="7">
                  <c:v>Reconoce Documentación</c:v>
                </c:pt>
              </c:strCache>
            </c:strRef>
          </c:cat>
          <c:val>
            <c:numRef>
              <c:f>Hoja1!$D$4:$D$11</c:f>
              <c:numCache>
                <c:formatCode>General</c:formatCode>
                <c:ptCount val="8"/>
                <c:pt idx="0">
                  <c:v>6</c:v>
                </c:pt>
                <c:pt idx="1">
                  <c:v>6</c:v>
                </c:pt>
                <c:pt idx="2">
                  <c:v>3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7</c:v>
                </c:pt>
                <c:pt idx="7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A8-433D-BEA8-6744520E9AC4}"/>
            </c:ext>
          </c:extLst>
        </c:ser>
        <c:ser>
          <c:idx val="1"/>
          <c:order val="1"/>
          <c:tx>
            <c:strRef>
              <c:f>Hoja1!$E$3</c:f>
              <c:strCache>
                <c:ptCount val="1"/>
                <c:pt idx="0">
                  <c:v>Archicheck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Hoja1!$B$4:$B$11</c:f>
              <c:strCache>
                <c:ptCount val="8"/>
                <c:pt idx="0">
                  <c:v>Consistencia y Coherencia</c:v>
                </c:pt>
                <c:pt idx="1">
                  <c:v>Observaciones básicas</c:v>
                </c:pt>
                <c:pt idx="2">
                  <c:v>Lectura de planos</c:v>
                </c:pt>
                <c:pt idx="3">
                  <c:v>Datos en planos</c:v>
                </c:pt>
                <c:pt idx="4">
                  <c:v>Analisis espacial</c:v>
                </c:pt>
                <c:pt idx="5">
                  <c:v>Observaciones espaciales</c:v>
                </c:pt>
                <c:pt idx="6">
                  <c:v>Admisibilidad y Concordancia</c:v>
                </c:pt>
                <c:pt idx="7">
                  <c:v>Reconoce Documentación</c:v>
                </c:pt>
              </c:strCache>
            </c:strRef>
          </c:cat>
          <c:val>
            <c:numRef>
              <c:f>Hoja1!$E$4:$E$11</c:f>
              <c:numCache>
                <c:formatCode>General</c:formatCode>
                <c:ptCount val="8"/>
                <c:pt idx="0">
                  <c:v>4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  <c:pt idx="4">
                  <c:v>6</c:v>
                </c:pt>
                <c:pt idx="5">
                  <c:v>5</c:v>
                </c:pt>
                <c:pt idx="6">
                  <c:v>5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5A8-433D-BEA8-6744520E9A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17703471"/>
        <c:axId val="617691407"/>
      </c:radarChart>
      <c:catAx>
        <c:axId val="617703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617691407"/>
        <c:crosses val="autoZero"/>
        <c:auto val="1"/>
        <c:lblAlgn val="ctr"/>
        <c:lblOffset val="100"/>
        <c:noMultiLvlLbl val="0"/>
      </c:catAx>
      <c:valAx>
        <c:axId val="617691407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17703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accent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614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80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3474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Permiso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863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paraliza la obra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4264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Según norma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502920" cy="256032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74320" y="16642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días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20848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CChC (promedio real)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304288"/>
            <a:ext cx="32004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274320" y="2304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848 días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27249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Colliers / Portal Inmobiliario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944368"/>
            <a:ext cx="1874520" cy="256032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274320" y="29443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465 días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4320" y="38587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revisiones explican &gt;70% del tiempo de tramitación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44622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CChC Observatorio · Colliers/PortalInmobiliario · MINVU DDU-ESP-019-09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023360" y="347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financiero real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23360" y="731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escenarios calculados sobre demoras reales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3360" y="1188720"/>
            <a:ext cx="4663440" cy="1133856"/>
          </a:xfrm>
          <a:prstGeom prst="roundRect">
            <a:avLst>
              <a:gd name="adj" fmla="val 8065"/>
            </a:avLst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4279392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Edificio colectivo — 9 pisos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79392" y="1536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UF 207.360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92240" y="12435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+UF 16.589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92240" y="16276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del presupuesto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79392" y="1810512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costo financiero por retraso de 753 días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023360" y="2450592"/>
            <a:ext cx="4663440" cy="1133856"/>
          </a:xfrm>
          <a:prstGeom prst="roundRect">
            <a:avLst>
              <a:gd name="adj" fmla="val 8065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4279392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Ampliación comercial &lt; 100 m²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79392" y="2798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UF 2.400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92240" y="25054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 6.000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92240" y="28895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+250% del proyecto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79392" y="3072384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ventas perdidas (6 meses de cierre de tienda en mall)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023360" y="3712464"/>
            <a:ext cx="4663440" cy="1133856"/>
          </a:xfrm>
          <a:prstGeom prst="roundRect">
            <a:avLst>
              <a:gd name="adj" fmla="val 8065"/>
            </a:avLst>
          </a:prstGeom>
          <a:solidFill>
            <a:srgbClr val="EDFAF1"/>
          </a:solidFill>
          <a:ln w="12700">
            <a:solidFill>
              <a:srgbClr val="EDFAF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4279392" y="3803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Vivienda particular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79392" y="40599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UF 5.000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92240" y="37673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+UF 745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492240" y="4151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del presupuesto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79392" y="4334256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en espera + arriendo del propietario por 6 meses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 competitiva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214836" y="824521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14836" y="1153705"/>
            <a:ext cx="3566160" cy="987552"/>
          </a:xfrm>
          <a:prstGeom prst="roundRect">
            <a:avLst>
              <a:gd name="adj" fmla="val 925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Text 48"/>
          <p:cNvSpPr/>
          <p:nvPr/>
        </p:nvSpPr>
        <p:spPr>
          <a:xfrm>
            <a:off x="361140" y="1226857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online rápido, preciso e iterativo que contrasta el expediente completo contra la normativa vigente artículo por artículo: OGUC · LGUC · DDU · PRC comunal.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 7×24 desde el anteproyecto. Indica exactamente qué incumple y qué corregir.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14836" y="2232697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14836" y="2472711"/>
            <a:ext cx="3566160" cy="493776"/>
          </a:xfrm>
          <a:prstGeom prst="roundRect">
            <a:avLst>
              <a:gd name="adj" fmla="val 18519"/>
            </a:avLst>
          </a:prstGeom>
          <a:solidFill>
            <a:srgbClr val="EBF0FF"/>
          </a:solidFill>
          <a:ln w="12700">
            <a:solidFill>
              <a:srgbClr val="EBF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Text 51"/>
          <p:cNvSpPr/>
          <p:nvPr/>
        </p:nvSpPr>
        <p:spPr>
          <a:xfrm>
            <a:off x="342852" y="2527575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computacional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623012" y="2545863"/>
            <a:ext cx="0" cy="347472"/>
          </a:xfrm>
          <a:prstGeom prst="line">
            <a:avLst/>
          </a:prstGeom>
          <a:noFill/>
          <a:ln w="12700">
            <a:solidFill>
              <a:srgbClr val="00879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5" name="Text 53"/>
          <p:cNvSpPr/>
          <p:nvPr/>
        </p:nvSpPr>
        <p:spPr>
          <a:xfrm>
            <a:off x="1751028" y="2527575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· U-Net · DINO · SAM 2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14836" y="3021351"/>
            <a:ext cx="3566160" cy="493776"/>
          </a:xfrm>
          <a:prstGeom prst="roundRect">
            <a:avLst>
              <a:gd name="adj" fmla="val 18519"/>
            </a:avLst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7" name="Text 55"/>
          <p:cNvSpPr/>
          <p:nvPr/>
        </p:nvSpPr>
        <p:spPr>
          <a:xfrm>
            <a:off x="342852" y="3076215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Interpretación cognitiva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623012" y="3094503"/>
            <a:ext cx="0" cy="347472"/>
          </a:xfrm>
          <a:prstGeom prst="line">
            <a:avLst/>
          </a:prstGeom>
          <a:noFill/>
          <a:ln w="12700">
            <a:solidFill>
              <a:srgbClr val="00879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9" name="Text 57"/>
          <p:cNvSpPr/>
          <p:nvPr/>
        </p:nvSpPr>
        <p:spPr>
          <a:xfrm>
            <a:off x="1751028" y="3076215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+ GPT-4o — lee cotas, infiere usos, detecta inconsistencias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14836" y="3569991"/>
            <a:ext cx="3566160" cy="493776"/>
          </a:xfrm>
          <a:prstGeom prst="roundRect">
            <a:avLst>
              <a:gd name="adj" fmla="val 18519"/>
            </a:avLst>
          </a:prstGeom>
          <a:solidFill>
            <a:srgbClr val="EBF0FF"/>
          </a:solidFill>
          <a:ln w="12700">
            <a:solidFill>
              <a:srgbClr val="EBF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1" name="Text 59"/>
          <p:cNvSpPr/>
          <p:nvPr/>
        </p:nvSpPr>
        <p:spPr>
          <a:xfrm>
            <a:off x="342852" y="3624855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normativo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623012" y="3643143"/>
            <a:ext cx="0" cy="347472"/>
          </a:xfrm>
          <a:prstGeom prst="line">
            <a:avLst/>
          </a:prstGeom>
          <a:noFill/>
          <a:ln w="12700">
            <a:solidFill>
              <a:srgbClr val="00879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3" name="Text 61"/>
          <p:cNvSpPr/>
          <p:nvPr/>
        </p:nvSpPr>
        <p:spPr>
          <a:xfrm>
            <a:off x="1751028" y="3624855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+ JSON — verifica cumplimientos artículo por artículo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14836" y="4118631"/>
            <a:ext cx="3566160" cy="493776"/>
          </a:xfrm>
          <a:prstGeom prst="roundRect">
            <a:avLst>
              <a:gd name="adj" fmla="val 18519"/>
            </a:avLst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5" name="Text 63"/>
          <p:cNvSpPr/>
          <p:nvPr/>
        </p:nvSpPr>
        <p:spPr>
          <a:xfrm>
            <a:off x="342852" y="4173495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local único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623012" y="4191783"/>
            <a:ext cx="0" cy="347472"/>
          </a:xfrm>
          <a:prstGeom prst="line">
            <a:avLst/>
          </a:prstGeom>
          <a:noFill/>
          <a:ln w="12700">
            <a:solidFill>
              <a:srgbClr val="00879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7" name="Text 65"/>
          <p:cNvSpPr/>
          <p:nvPr/>
        </p:nvSpPr>
        <p:spPr>
          <a:xfrm>
            <a:off x="1751028" y="4173495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MLSTRUCT-FP: 954 planos chilenos en alta resolución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65760" y="4739715"/>
            <a:ext cx="8321040" cy="347472"/>
          </a:xfrm>
          <a:prstGeom prst="roundRect">
            <a:avLst>
              <a:gd name="adj" fmla="val 26316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0" name="Text 68"/>
          <p:cNvSpPr/>
          <p:nvPr/>
        </p:nvSpPr>
        <p:spPr>
          <a:xfrm>
            <a:off x="365760" y="4739715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solo IA — aprende con cada revisión · mejora incremental · siempre es la misma para el arquitecto</a:t>
            </a:r>
            <a:endParaRPr lang="en-US" sz="1000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D9A14E64-5F4B-FBA5-92A7-B26B49A97C38}"/>
              </a:ext>
            </a:extLst>
          </p:cNvPr>
          <p:cNvGrpSpPr/>
          <p:nvPr/>
        </p:nvGrpSpPr>
        <p:grpSpPr>
          <a:xfrm>
            <a:off x="4244187" y="990959"/>
            <a:ext cx="4568400" cy="3566584"/>
            <a:chOff x="4244187" y="990959"/>
            <a:chExt cx="4568400" cy="3566584"/>
          </a:xfrm>
        </p:grpSpPr>
        <p:sp>
          <p:nvSpPr>
            <p:cNvPr id="3" name="Text 1"/>
            <p:cNvSpPr/>
            <p:nvPr/>
          </p:nvSpPr>
          <p:spPr>
            <a:xfrm>
              <a:off x="4547883" y="990959"/>
              <a:ext cx="3742384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Mismo proyecto analizado por ArchiCheck y Revi, </a:t>
              </a:r>
              <a:r>
                <a:rPr lang="en-US" sz="1100" i="1" dirty="0" err="1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competidor</a:t>
              </a:r>
              <a:r>
                <a:rPr lang="en-US" sz="1100" i="1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100" i="1" dirty="0" err="1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directo</a:t>
              </a:r>
              <a:r>
                <a:rPr lang="en-US" sz="1100" i="1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.</a:t>
              </a:r>
              <a:endParaRPr lang="en-US" sz="110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4815827" y="4264935"/>
              <a:ext cx="3922776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i="1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 análisis del plano: 40 hallazgos vs 7 de Revi sobre el mismo proyecto piloto.</a:t>
              </a:r>
              <a:endParaRPr lang="en-US" sz="800" dirty="0"/>
            </a:p>
          </p:txBody>
        </p:sp>
        <p:graphicFrame>
          <p:nvGraphicFramePr>
            <p:cNvPr id="4" name="Gráfico 3">
              <a:extLst>
                <a:ext uri="{FF2B5EF4-FFF2-40B4-BE49-F238E27FC236}">
                  <a16:creationId xmlns:a16="http://schemas.microsoft.com/office/drawing/2014/main" id="{00000000-0008-0000-0000-00000300000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12159513"/>
                </p:ext>
              </p:extLst>
            </p:nvPr>
          </p:nvGraphicFramePr>
          <p:xfrm>
            <a:off x="4244187" y="1478298"/>
            <a:ext cx="4568400" cy="272561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negocio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valor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011680" cy="1536192"/>
          </a:xfrm>
          <a:prstGeom prst="roundRect">
            <a:avLst>
              <a:gd name="adj" fmla="val 357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Revisión normativa automatizada de planos: OGUC · LGUC · DDU · PRC comunal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Detecta lo que la DOM observará antes de presentar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7×24, desde el anteproyecto, en minutos · USD 100/expediente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7132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2560320" y="713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objetivo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024128"/>
            <a:ext cx="2011680" cy="1536192"/>
          </a:xfrm>
          <a:prstGeom prst="roundRect">
            <a:avLst>
              <a:gd name="adj" fmla="val 3571"/>
            </a:avLst>
          </a:prstGeom>
          <a:solidFill>
            <a:srgbClr val="EAF7F9"/>
          </a:solidFill>
          <a:ln w="12700">
            <a:solidFill>
              <a:srgbClr val="EAF7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2651760" y="1078992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Early adopter: estudios 1–5 personas, sin revisor interno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51760" y="1362456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Core: estudios medianos con volumen recurrente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51760" y="1645920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Canal: constructoras con arquitectos internos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51760" y="1929384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75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Revisores</a:t>
            </a: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5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independiente</a:t>
            </a: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escalan su capacidad con ArchiCheck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651760" y="2212848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B2B Canal: CChC · revisión de planos para Revi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754880" y="7132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754880" y="713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Canales de distribución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024128"/>
            <a:ext cx="2011680" cy="1536192"/>
          </a:xfrm>
          <a:prstGeom prst="roundRect">
            <a:avLst>
              <a:gd name="adj" fmla="val 3571"/>
            </a:avLst>
          </a:prstGeom>
          <a:solidFill>
            <a:srgbClr val="EDFAF1"/>
          </a:solidFill>
          <a:ln w="12700">
            <a:solidFill>
              <a:srgbClr val="EDFAF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4846320" y="107899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AOA + Colegio de Arquitectos (canal institucional directo)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144815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Referidos entre </a:t>
            </a:r>
            <a:r>
              <a:rPr lang="en-US" sz="85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estudios</a:t>
            </a: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 algn="l">
              <a:buNone/>
            </a:pPr>
            <a:endParaRPr lang="en-US" sz="850" dirty="0">
              <a:solidFill>
                <a:srgbClr val="374151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cs typeface="Arial" pitchFamily="34" charset="-120"/>
              </a:rPr>
              <a:t>- Publicidad: </a:t>
            </a:r>
            <a:r>
              <a:rPr lang="en-US" sz="850" dirty="0" err="1">
                <a:solidFill>
                  <a:srgbClr val="374151"/>
                </a:solidFill>
                <a:latin typeface="Arial" pitchFamily="34" charset="0"/>
                <a:cs typeface="Arial" pitchFamily="34" charset="-120"/>
              </a:rPr>
              <a:t>Medios</a:t>
            </a:r>
            <a:r>
              <a:rPr lang="en-US" sz="850" dirty="0">
                <a:solidFill>
                  <a:srgbClr val="374151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850" dirty="0" err="1">
                <a:solidFill>
                  <a:srgbClr val="374151"/>
                </a:solidFill>
                <a:latin typeface="Arial" pitchFamily="34" charset="0"/>
                <a:cs typeface="Arial" pitchFamily="34" charset="-120"/>
              </a:rPr>
              <a:t>especializados</a:t>
            </a:r>
            <a:r>
              <a:rPr lang="en-US" sz="850" dirty="0">
                <a:solidFill>
                  <a:srgbClr val="374151"/>
                </a:solidFill>
                <a:latin typeface="Arial" pitchFamily="34" charset="0"/>
                <a:cs typeface="Arial" pitchFamily="34" charset="-120"/>
              </a:rPr>
              <a:t>, RRSS</a:t>
            </a:r>
          </a:p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202996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 Construcción · ferias de industria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49440" y="7132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6949440" y="713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ingresos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49440" y="1024128"/>
            <a:ext cx="2011680" cy="1536192"/>
          </a:xfrm>
          <a:prstGeom prst="roundRect">
            <a:avLst>
              <a:gd name="adj" fmla="val 3571"/>
            </a:avLst>
          </a:prstGeom>
          <a:solidFill>
            <a:srgbClr val="FEF9EF"/>
          </a:solidFill>
          <a:ln w="12700">
            <a:solidFill>
              <a:srgbClr val="FEF9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7040880" y="107899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Por proyecto: USD 50–100/expediente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040880" y="15544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Suscripción mensual: USD 300/mes uso ilimitado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040880" y="202996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B2G (Etapa 2): SaaS para municipios · fondos FNDR / FIC-R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2724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017520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EBF0FF"/>
          </a:solidFill>
          <a:ln w="12700">
            <a:solidFill>
              <a:srgbClr val="EBF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457200" y="305409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25526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6,0M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457200" y="35661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60.000 expedientes × USD 100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084832" y="3017520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2176272" y="305409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76272" y="325526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3,8M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2176272" y="35661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38.400 expedientes (−obras menores, −resto RM)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803904" y="3017520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3895344" y="305409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95344" y="325526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600K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3895344" y="35661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6.000 expedientes · 3 años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559552" y="272491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59552" y="3017520"/>
            <a:ext cx="3127248" cy="1170432"/>
          </a:xfrm>
          <a:prstGeom prst="roundRect">
            <a:avLst>
              <a:gd name="adj" fmla="val 781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42"/>
          <p:cNvSpPr/>
          <p:nvPr/>
        </p:nvSpPr>
        <p:spPr>
          <a:xfrm>
            <a:off x="5650992" y="3090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14032" y="309067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7.000/estudio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50992" y="33649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(hipótesis)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14032" y="33649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300/estudio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50992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/ CAC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14032" y="36393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23×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650992" y="39136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mes 12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14032" y="39136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15.750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65760" y="39867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42793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4" name="Text 52"/>
          <p:cNvSpPr/>
          <p:nvPr/>
        </p:nvSpPr>
        <p:spPr>
          <a:xfrm>
            <a:off x="475488" y="43159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1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75488" y="45537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estudios · Canal AOA y Colegio · 20 comunas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200400" y="42793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7" name="Text 55"/>
          <p:cNvSpPr/>
          <p:nvPr/>
        </p:nvSpPr>
        <p:spPr>
          <a:xfrm>
            <a:off x="3310128" y="43159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2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310128" y="45537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estudios · FIC-R/FNDR · inicio Latam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035040" y="42793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0" name="Text 58"/>
          <p:cNvSpPr/>
          <p:nvPr/>
        </p:nvSpPr>
        <p:spPr>
          <a:xfrm>
            <a:off x="6144768" y="43159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3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144768" y="45537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 Latam · Perú, Colombia, Argentina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Tracción · Equipo ·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en producción — caso real documentado — sin ventas aún · Ignite nos lleva de validación técnica a primeros clientes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438912" y="10241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09344" y="107899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páginas · informe real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 Providencia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987552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273552" y="10241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443984" y="107899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 detectados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7 de Revi · mismo caso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0" y="987552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6108192" y="10241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278624" y="107899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chilenos 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propio (MLSTRUCT-FP)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93895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249851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493776" y="2304715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Nicolás Estragues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" y="2542459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· Team Leader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" y="2743627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Civil Industrial + Magíster Marketing (U. de Chile) · 23 años en desarrollo de producto, fintech y expansión Latam · Full-time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0" y="2249851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328416" y="2304715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Cristian Wrbka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28416" y="2542459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Expert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28416" y="2743627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Magíster Arquitectura UC · 20 años en proyectos de innovación y redes de industria · Acceso AOA + Colegio de Arquitectos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35040" y="2249851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6163056" y="2304715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Allué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63056" y="2542459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63056" y="2743627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años preparando expedientes y enfrentando revisiones DOM · Conoce los criterios reales desde adentro · Validó el motor normativo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3460971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logramos en los 4 meses de Ignite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753579"/>
            <a:ext cx="1975104" cy="804672"/>
          </a:xfrm>
          <a:prstGeom prst="roundRect">
            <a:avLst>
              <a:gd name="adj" fmla="val 11364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438912" y="3790155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38912" y="4192491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activos pagando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14600" y="3753579"/>
            <a:ext cx="1975104" cy="804672"/>
          </a:xfrm>
          <a:prstGeom prst="roundRect">
            <a:avLst>
              <a:gd name="adj" fmla="val 11364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2587752" y="3790155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587752" y="4192491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comunas RM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motor normativo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3753579"/>
            <a:ext cx="1975104" cy="804672"/>
          </a:xfrm>
          <a:prstGeom prst="roundRect">
            <a:avLst>
              <a:gd name="adj" fmla="val 11364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4736592" y="3790155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6K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736592" y="4192491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al cierre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programa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12280" y="3753579"/>
            <a:ext cx="1975104" cy="804672"/>
          </a:xfrm>
          <a:prstGeom prst="roundRect">
            <a:avLst>
              <a:gd name="adj" fmla="val 11364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6885432" y="3790155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≥90%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885432" y="4192491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validada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arquitectos reales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5760" y="4631403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832571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457200" y="4841715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Hoy: MVP · estudios de arquitectura · OGUC / DDU / PRC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00400" y="4832571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3291840" y="4841715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Ignite: PMF · revisores privados · multi-documento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035040" y="4832571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/>
          <p:nvPr/>
        </p:nvSpPr>
        <p:spPr>
          <a:xfrm>
            <a:off x="6126480" y="4841715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Escala: CChC / B2B canal · municipios B2G · Latam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732</Words>
  <Application>Microsoft Office PowerPoint</Application>
  <PresentationFormat>Presentación en pantalla (16:9)</PresentationFormat>
  <Paragraphs>134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Nicolás Estragues Nuñez</cp:lastModifiedBy>
  <cp:revision>5</cp:revision>
  <dcterms:created xsi:type="dcterms:W3CDTF">2026-06-30T23:51:46Z</dcterms:created>
  <dcterms:modified xsi:type="dcterms:W3CDTF">2026-07-02T02:34:38Z</dcterms:modified>
</cp:coreProperties>
</file>