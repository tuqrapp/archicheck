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Conservador</c:v>
                </c:pt>
              </c:strCache>
            </c:strRef>
          </c:tx>
          <c:spPr>
            <a:ln w="31750" cap="flat">
              <a:solidFill>
                <a:srgbClr val="94A3B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  <c:pt idx="12">
                  <c:v>M13</c:v>
                </c:pt>
                <c:pt idx="13">
                  <c:v>M15</c:v>
                </c:pt>
                <c:pt idx="14">
                  <c:v>M18</c:v>
                </c:pt>
                <c:pt idx="15">
                  <c:v>M21</c:v>
                </c:pt>
                <c:pt idx="16">
                  <c:v>M24</c:v>
                </c:pt>
                <c:pt idx="17">
                  <c:v>M27</c:v>
                </c:pt>
                <c:pt idx="18">
                  <c:v>M30</c:v>
                </c:pt>
                <c:pt idx="19">
                  <c:v>M33</c:v>
                </c:pt>
                <c:pt idx="20">
                  <c:v>M36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0.5</c:v>
                </c:pt>
                <c:pt idx="1">
                  <c:v>1</c:v>
                </c:pt>
                <c:pt idx="2">
                  <c:v>1.5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  <c:pt idx="7">
                  <c:v>6</c:v>
                </c:pt>
                <c:pt idx="8">
                  <c:v>8</c:v>
                </c:pt>
                <c:pt idx="9">
                  <c:v>10</c:v>
                </c:pt>
                <c:pt idx="10">
                  <c:v>12</c:v>
                </c:pt>
                <c:pt idx="11">
                  <c:v>15</c:v>
                </c:pt>
                <c:pt idx="12">
                  <c:v>18</c:v>
                </c:pt>
                <c:pt idx="13">
                  <c:v>22</c:v>
                </c:pt>
                <c:pt idx="14">
                  <c:v>32</c:v>
                </c:pt>
                <c:pt idx="15">
                  <c:v>40</c:v>
                </c:pt>
                <c:pt idx="16">
                  <c:v>50</c:v>
                </c:pt>
                <c:pt idx="17">
                  <c:v>57</c:v>
                </c:pt>
                <c:pt idx="18">
                  <c:v>64</c:v>
                </c:pt>
                <c:pt idx="19">
                  <c:v>70</c:v>
                </c:pt>
                <c:pt idx="20">
                  <c:v>78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8F0-42C5-85DE-9B21D5571C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ln w="31750" cap="flat">
              <a:solidFill>
                <a:srgbClr val="0891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  <c:pt idx="12">
                  <c:v>M13</c:v>
                </c:pt>
                <c:pt idx="13">
                  <c:v>M15</c:v>
                </c:pt>
                <c:pt idx="14">
                  <c:v>M18</c:v>
                </c:pt>
                <c:pt idx="15">
                  <c:v>M21</c:v>
                </c:pt>
                <c:pt idx="16">
                  <c:v>M24</c:v>
                </c:pt>
                <c:pt idx="17">
                  <c:v>M27</c:v>
                </c:pt>
                <c:pt idx="18">
                  <c:v>M30</c:v>
                </c:pt>
                <c:pt idx="19">
                  <c:v>M33</c:v>
                </c:pt>
                <c:pt idx="20">
                  <c:v>M36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1</c:v>
                </c:pt>
                <c:pt idx="1">
                  <c:v>1.5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  <c:pt idx="5">
                  <c:v>7</c:v>
                </c:pt>
                <c:pt idx="6">
                  <c:v>9</c:v>
                </c:pt>
                <c:pt idx="7">
                  <c:v>11</c:v>
                </c:pt>
                <c:pt idx="8">
                  <c:v>14</c:v>
                </c:pt>
                <c:pt idx="9">
                  <c:v>17</c:v>
                </c:pt>
                <c:pt idx="10">
                  <c:v>20</c:v>
                </c:pt>
                <c:pt idx="11">
                  <c:v>24</c:v>
                </c:pt>
                <c:pt idx="12">
                  <c:v>28</c:v>
                </c:pt>
                <c:pt idx="13">
                  <c:v>35</c:v>
                </c:pt>
                <c:pt idx="14">
                  <c:v>50</c:v>
                </c:pt>
                <c:pt idx="15">
                  <c:v>62</c:v>
                </c:pt>
                <c:pt idx="16">
                  <c:v>75</c:v>
                </c:pt>
                <c:pt idx="17">
                  <c:v>83</c:v>
                </c:pt>
                <c:pt idx="18">
                  <c:v>90</c:v>
                </c:pt>
                <c:pt idx="19">
                  <c:v>98</c:v>
                </c:pt>
                <c:pt idx="20">
                  <c:v>108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8F0-42C5-85DE-9B21D5571C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Optimista</c:v>
                </c:pt>
              </c:strCache>
            </c:strRef>
          </c:tx>
          <c:spPr>
            <a:ln w="3175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  <c:pt idx="12">
                  <c:v>M13</c:v>
                </c:pt>
                <c:pt idx="13">
                  <c:v>M15</c:v>
                </c:pt>
                <c:pt idx="14">
                  <c:v>M18</c:v>
                </c:pt>
                <c:pt idx="15">
                  <c:v>M21</c:v>
                </c:pt>
                <c:pt idx="16">
                  <c:v>M24</c:v>
                </c:pt>
                <c:pt idx="17">
                  <c:v>M27</c:v>
                </c:pt>
                <c:pt idx="18">
                  <c:v>M30</c:v>
                </c:pt>
                <c:pt idx="19">
                  <c:v>M33</c:v>
                </c:pt>
                <c:pt idx="20">
                  <c:v>M36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2</c:v>
                </c:pt>
                <c:pt idx="1">
                  <c:v>3</c:v>
                </c:pt>
                <c:pt idx="2">
                  <c:v>5</c:v>
                </c:pt>
                <c:pt idx="3">
                  <c:v>8</c:v>
                </c:pt>
                <c:pt idx="4">
                  <c:v>12</c:v>
                </c:pt>
                <c:pt idx="5">
                  <c:v>16</c:v>
                </c:pt>
                <c:pt idx="6">
                  <c:v>20</c:v>
                </c:pt>
                <c:pt idx="7">
                  <c:v>26</c:v>
                </c:pt>
                <c:pt idx="8">
                  <c:v>32</c:v>
                </c:pt>
                <c:pt idx="9">
                  <c:v>38</c:v>
                </c:pt>
                <c:pt idx="10">
                  <c:v>46</c:v>
                </c:pt>
                <c:pt idx="11">
                  <c:v>56</c:v>
                </c:pt>
                <c:pt idx="12">
                  <c:v>64</c:v>
                </c:pt>
                <c:pt idx="13">
                  <c:v>78</c:v>
                </c:pt>
                <c:pt idx="14">
                  <c:v>100</c:v>
                </c:pt>
                <c:pt idx="15">
                  <c:v>118</c:v>
                </c:pt>
                <c:pt idx="16">
                  <c:v>135</c:v>
                </c:pt>
                <c:pt idx="17">
                  <c:v>148</c:v>
                </c:pt>
                <c:pt idx="18">
                  <c:v>158</c:v>
                </c:pt>
                <c:pt idx="19">
                  <c:v>168</c:v>
                </c:pt>
                <c:pt idx="20">
                  <c:v>182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78F0-42C5-85DE-9B21D5571C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8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6B6D4"/>
                </a:solidFill>
              </a:rPr>
              <a:t>ANÁLISIS ESTRATÉGICO Y PROPUESTA DE COLABORACIÓN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ArchiCheck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para Revisión Normativa de Proyectos Arquitectónicos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3108960"/>
            <a:ext cx="22860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6576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por: Mauricio Gherardelli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0" y="274320"/>
            <a:ext cx="411480" cy="658368"/>
          </a:xfrm>
          <a:prstGeom prst="rect">
            <a:avLst/>
          </a:prstGeom>
          <a:solidFill>
            <a:srgbClr val="0891B2">
              <a:alpha val="10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0" y="1024128"/>
            <a:ext cx="411480" cy="658368"/>
          </a:xfrm>
          <a:prstGeom prst="rect">
            <a:avLst/>
          </a:prstGeom>
          <a:solidFill>
            <a:srgbClr val="0891B2">
              <a:alpha val="25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6858000" y="1773936"/>
            <a:ext cx="411480" cy="658368"/>
          </a:xfrm>
          <a:prstGeom prst="rect">
            <a:avLst/>
          </a:prstGeom>
          <a:solidFill>
            <a:srgbClr val="0891B2">
              <a:alpha val="10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6858000" y="2523744"/>
            <a:ext cx="411480" cy="658368"/>
          </a:xfrm>
          <a:prstGeom prst="rect">
            <a:avLst/>
          </a:prstGeom>
          <a:solidFill>
            <a:srgbClr val="0891B2">
              <a:alpha val="25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0" y="3273552"/>
            <a:ext cx="411480" cy="658368"/>
          </a:xfrm>
          <a:prstGeom prst="rect">
            <a:avLst/>
          </a:prstGeom>
          <a:solidFill>
            <a:srgbClr val="0891B2">
              <a:alpha val="25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6858000" y="4023360"/>
            <a:ext cx="411480" cy="658368"/>
          </a:xfrm>
          <a:prstGeom prst="rect">
            <a:avLst/>
          </a:prstGeom>
          <a:solidFill>
            <a:srgbClr val="0891B2">
              <a:alpha val="10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7360920" y="274320"/>
            <a:ext cx="411480" cy="658368"/>
          </a:xfrm>
          <a:prstGeom prst="rect">
            <a:avLst/>
          </a:prstGeom>
          <a:solidFill>
            <a:srgbClr val="0891B2">
              <a:alpha val="10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7360920" y="1024128"/>
            <a:ext cx="411480" cy="658368"/>
          </a:xfrm>
          <a:prstGeom prst="rect">
            <a:avLst/>
          </a:prstGeom>
          <a:solidFill>
            <a:srgbClr val="0891B2">
              <a:alpha val="25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7360920" y="1773936"/>
            <a:ext cx="411480" cy="658368"/>
          </a:xfrm>
          <a:prstGeom prst="rect">
            <a:avLst/>
          </a:prstGeom>
          <a:solidFill>
            <a:srgbClr val="0891B2">
              <a:alpha val="10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7360920" y="2523744"/>
            <a:ext cx="411480" cy="658368"/>
          </a:xfrm>
          <a:prstGeom prst="rect">
            <a:avLst/>
          </a:prstGeom>
          <a:solidFill>
            <a:srgbClr val="0891B2">
              <a:alpha val="25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7360920" y="3273552"/>
            <a:ext cx="411480" cy="658368"/>
          </a:xfrm>
          <a:prstGeom prst="rect">
            <a:avLst/>
          </a:prstGeom>
          <a:solidFill>
            <a:srgbClr val="0891B2">
              <a:alpha val="10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7360920" y="4023360"/>
            <a:ext cx="411480" cy="658368"/>
          </a:xfrm>
          <a:prstGeom prst="rect">
            <a:avLst/>
          </a:prstGeom>
          <a:solidFill>
            <a:srgbClr val="0891B2">
              <a:alpha val="10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7863840" y="274320"/>
            <a:ext cx="411480" cy="658368"/>
          </a:xfrm>
          <a:prstGeom prst="rect">
            <a:avLst/>
          </a:prstGeom>
          <a:solidFill>
            <a:srgbClr val="0891B2">
              <a:alpha val="25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7863840" y="1024128"/>
            <a:ext cx="411480" cy="658368"/>
          </a:xfrm>
          <a:prstGeom prst="rect">
            <a:avLst/>
          </a:prstGeom>
          <a:solidFill>
            <a:srgbClr val="0891B2">
              <a:alpha val="25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7863840" y="1773936"/>
            <a:ext cx="411480" cy="658368"/>
          </a:xfrm>
          <a:prstGeom prst="rect">
            <a:avLst/>
          </a:prstGeom>
          <a:solidFill>
            <a:srgbClr val="0891B2">
              <a:alpha val="25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7863840" y="2523744"/>
            <a:ext cx="411480" cy="658368"/>
          </a:xfrm>
          <a:prstGeom prst="rect">
            <a:avLst/>
          </a:prstGeom>
          <a:solidFill>
            <a:srgbClr val="0891B2">
              <a:alpha val="25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7863840" y="3273552"/>
            <a:ext cx="411480" cy="658368"/>
          </a:xfrm>
          <a:prstGeom prst="rect">
            <a:avLst/>
          </a:prstGeom>
          <a:solidFill>
            <a:srgbClr val="0891B2">
              <a:alpha val="25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7863840" y="4023360"/>
            <a:ext cx="411480" cy="658368"/>
          </a:xfrm>
          <a:prstGeom prst="rect">
            <a:avLst/>
          </a:prstGeom>
          <a:solidFill>
            <a:srgbClr val="0891B2">
              <a:alpha val="10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8366760" y="274320"/>
            <a:ext cx="411480" cy="658368"/>
          </a:xfrm>
          <a:prstGeom prst="rect">
            <a:avLst/>
          </a:prstGeom>
          <a:solidFill>
            <a:srgbClr val="0891B2">
              <a:alpha val="25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366760" y="1024128"/>
            <a:ext cx="411480" cy="658368"/>
          </a:xfrm>
          <a:prstGeom prst="rect">
            <a:avLst/>
          </a:prstGeom>
          <a:solidFill>
            <a:srgbClr val="0891B2">
              <a:alpha val="10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8366760" y="1773936"/>
            <a:ext cx="411480" cy="658368"/>
          </a:xfrm>
          <a:prstGeom prst="rect">
            <a:avLst/>
          </a:prstGeom>
          <a:solidFill>
            <a:srgbClr val="0891B2">
              <a:alpha val="25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8366760" y="2523744"/>
            <a:ext cx="411480" cy="658368"/>
          </a:xfrm>
          <a:prstGeom prst="rect">
            <a:avLst/>
          </a:prstGeom>
          <a:solidFill>
            <a:srgbClr val="0891B2">
              <a:alpha val="10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8366760" y="3273552"/>
            <a:ext cx="411480" cy="658368"/>
          </a:xfrm>
          <a:prstGeom prst="rect">
            <a:avLst/>
          </a:prstGeom>
          <a:solidFill>
            <a:srgbClr val="0891B2">
              <a:alpha val="10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8366760" y="4023360"/>
            <a:ext cx="411480" cy="658368"/>
          </a:xfrm>
          <a:prstGeom prst="rect">
            <a:avLst/>
          </a:prstGeom>
          <a:solidFill>
            <a:srgbClr val="0891B2">
              <a:alpha val="10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</a:rPr>
              <a:t>EL PRODUCTO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 — y por qué me convenció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2743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Técnico Real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chatbot. Combina visión computacional (OpenCV), análisis geométrico por capas y RAG normativo. Identifica 28 recintos, mide pendientes, anchos y superficies desde el plano.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38328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 Accionables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hallazgo incluye el artículo exacto (OGUC, DDU, LGUC), la medición real vs. la normativa, y una corrección específica. Eso es lo que un arquitecto necesita.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274320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35508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Validado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01168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revisor independiente ya existe como práctica estándar — muchas veces obligatoria. No crean un hábito nuevo: reemplazan un servicio que ya se paga.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274320" y="47823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analizado: Habilitación restaurante Plaza Pedro de Valdivia, Providencia  ·  58/100 OBSERVADO  ·  8 incumplimientos  ·  12 observaciones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22585" y="73152"/>
            <a:ext cx="85556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</a:rPr>
              <a:t>ANÁLISIS DE MERCADO — SEGMENTO A – PRESENTE ANALISIS CONSIDERA SOLO SEGMENTO PRIVADO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y captura realista del mercado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3931920" cy="107899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84048" y="124358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5179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Total Disponible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17647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~50.000 permisos DOM/año Chile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7744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$4.500M CLP/año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340864"/>
            <a:ext cx="3931920" cy="1078992"/>
          </a:xfrm>
          <a:prstGeom prst="rect">
            <a:avLst/>
          </a:prstGeom>
          <a:solidFill>
            <a:srgbClr val="CFFAFE"/>
          </a:solidFill>
          <a:ln w="127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84048" y="24140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26883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Servible — Santiago + regiones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2935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1.500 estudios × 3.5 proy/mes × $80k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77440" y="25420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$5.040M CLP/año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74320" y="3511296"/>
            <a:ext cx="3931920" cy="107899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384048" y="35844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3858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realista — horizonte 3 años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41056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estudios activos — 15% del SAM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377440" y="371246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$756M CLP/año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0" y="1170432"/>
            <a:ext cx="2057400" cy="153619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4572000" y="1170432"/>
            <a:ext cx="2057400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4663440" y="135331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~15.000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663440" y="199339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Arquitectos registrados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de Arquitectos Chile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12280" y="1170432"/>
            <a:ext cx="2057400" cy="153619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6812280" y="1170432"/>
            <a:ext cx="20574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6903720" y="135331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~3.500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903720" y="199339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activos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Santiago + regiones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2889504"/>
            <a:ext cx="2057400" cy="153619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4572000" y="2889504"/>
            <a:ext cx="20574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4663440" y="307238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~50.000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663440" y="371246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DOM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tramitados anualmente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12280" y="2889504"/>
            <a:ext cx="2057400" cy="153619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6812280" y="2889504"/>
            <a:ext cx="20574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6903720" y="307238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 5–20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903720" y="371246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revisor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independiente actual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274320" y="48006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Colegio de Arquitectos de Chile · MINVU · INE · estimaciones propias basadas en datos sectoriales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</a:rPr>
              <a:t>PERFIL DEL CLIENTE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y cliente objetivo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256032" y="1170432"/>
            <a:ext cx="27889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Early Adopter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1–5 personas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proyectos activos/mes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2677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proceso formal de revisión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6151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ajustado, valora velocidad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9626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decisiones solo, sin comité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3611880"/>
            <a:ext cx="2606040" cy="658368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420624" y="365760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Dolor: Pierde 2–3 semanas por revisión. Un rechazo DOM le cuesta caro al cliente.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370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Precio: $50k–$90k/proyecto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170432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3200400" y="1170432"/>
            <a:ext cx="2788920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3310128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Cliente Core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10128" y="1600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mediano 5–15 personas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0128" y="19202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proyectos simultáneos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10128" y="22677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Revisor externo ya presupuestado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10128" y="26151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por proyecto define todo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10128" y="29626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socio o gerente general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3611880"/>
            <a:ext cx="2606040" cy="658368"/>
          </a:xfrm>
          <a:prstGeom prst="rect">
            <a:avLst/>
          </a:prstGeom>
          <a:solidFill>
            <a:srgbClr val="1B3A6B">
              <a:alpha val="12000"/>
            </a:srgbClr>
          </a:solidFill>
          <a:ln w="12700">
            <a:solidFill>
              <a:srgbClr val="1B3A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3364992" y="365760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Dolor: El costo y tiempo del revisor impactan directamente el margen de cada proyecto.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10128" y="4370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Precio: $300k/mes suscripción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44768" y="1170432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6144768" y="1170432"/>
            <a:ext cx="27889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6254496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Canal Multiplicador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54496" y="1600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Constructora con arquitectos internos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54496" y="19202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proyectos/año propios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54496" y="22677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estandarizado exigido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54496" y="26151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volumen = alto impacto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54496" y="29626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Gerente de Proyectos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36208" y="3611880"/>
            <a:ext cx="2606040" cy="65836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6309360" y="365760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Dolor: Un retraso en permisos paraliza obra. Cada semana tiene costo directo mensurable.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54496" y="4370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Precio: Licencia corporativa anual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/>
          <p:nvPr/>
        </p:nvSpPr>
        <p:spPr>
          <a:xfrm>
            <a:off x="274320" y="48006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de entrada: Early Adopter → Core → Canal. No al revés.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</a:rPr>
              <a:t>ANÁLISIS COMPETITIVO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Fuerzas de Porter — Mercado Arquitectos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1554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1097280" cy="57607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097280" cy="1645920"/>
          </a:xfrm>
          <a:prstGeom prst="rect">
            <a:avLst/>
          </a:prstGeom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301752" y="31546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Media-Baja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34930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Rivalidad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3931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competidor directo en Chile hoy. Ventana de 2-3 años.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65960" y="1234440"/>
            <a:ext cx="1554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2194560" y="1746504"/>
            <a:ext cx="1097280" cy="1316736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2194560" y="1417320"/>
            <a:ext cx="1097280" cy="1645920"/>
          </a:xfrm>
          <a:prstGeom prst="rect">
            <a:avLst/>
          </a:prstGeom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2039112" y="31546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34930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Entrantes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11680" y="3931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técnica no infranqueable. El foso está en los datos normativos.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03320" y="1234440"/>
            <a:ext cx="1554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3931920" y="2240280"/>
            <a:ext cx="1097280" cy="8229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3931920" y="1417320"/>
            <a:ext cx="1097280" cy="1645920"/>
          </a:xfrm>
          <a:prstGeom prst="rect">
            <a:avLst/>
          </a:prstGeom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3776472" y="31546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49040" y="34930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749040" y="3931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IA en commoditización. Riesgo bajo de dependencia.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234440"/>
            <a:ext cx="1554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5669280" y="1993392"/>
            <a:ext cx="1097280" cy="106984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669280" y="1417320"/>
            <a:ext cx="1097280" cy="1645920"/>
          </a:xfrm>
          <a:prstGeom prst="rect">
            <a:avLst/>
          </a:prstGeom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5513832" y="31546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Media-Alta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0" y="34930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0" y="3931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atomizado = bajo poder individual. Riesgo en estudios grandes.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178040" y="1234440"/>
            <a:ext cx="1554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7406640" y="2240280"/>
            <a:ext cx="1097280" cy="8229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7406640" y="1417320"/>
            <a:ext cx="1097280" cy="1645920"/>
          </a:xfrm>
          <a:prstGeom prst="rect">
            <a:avLst/>
          </a:prstGeom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7251192" y="31546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23760" y="34930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Sustitutos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23760" y="3931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Revisor humano puede ser aliado, no enemigo.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274320" y="48006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ventana de entrada clara hoy — hay que capturar mercado antes de que llegue competencia.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</a:rPr>
              <a:t>ESTRATEGIA DE PRICING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precio plano al modelo híbrido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3931920" cy="14173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457200" y="12435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Actual: $50.000 plano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Subvalora proyectos complejos
</a:t>
            </a: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captura upside en volumen
</a:t>
            </a: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débil para mercado B2B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170432"/>
            <a:ext cx="4251960" cy="14173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754880" y="12435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Híbrido Propuesto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6002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mensual con créditos incluidos
</a:t>
            </a: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por complejidad del proyecto
</a:t>
            </a: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mes gratis para adquisición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859536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365760" y="2788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Proyecto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2788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Actual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278892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Propuesto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2788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136392"/>
            <a:ext cx="8595360" cy="3657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365760" y="3182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Remodelación simple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91840" y="31821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$50.000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31821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$50.000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58000" y="3182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Punto entrada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520440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365760" y="3566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Remodelación / Cambio parcial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91840" y="3566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$50.000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83480" y="3566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$90.000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80%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904488"/>
            <a:ext cx="8595360" cy="3657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365760" y="3950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destino / Obra nueva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91840" y="39502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$50.000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83480" y="39502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$150.000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0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200%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4288536"/>
            <a:ext cx="8595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365760" y="43342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estudio mediano/mes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291840" y="433425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83480" y="43342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$300.000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58000" y="43342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274320" y="48006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 de valor: revisor humano cobra UF 5–20 (~$450.000 CLP). Todo lo que cobremos por debajo con mayor velocidad es valor neto.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</a:rPr>
              <a:t>GO TO MARKET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por arquitectos — 3 etapas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269748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3898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1–3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" y="2057400"/>
            <a:ext cx="2423160" cy="347472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57200" y="2084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15 early adopters activos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56032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Arquitectos independientes 2–5 personas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12724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gratuito a cambio de feedback real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69417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 del Colegio de Arquitectos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23444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3200400" y="1234440"/>
            <a:ext cx="26974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3291840" y="137160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32918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86200" y="13898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3–6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8620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Ingresos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337560" y="2057400"/>
            <a:ext cx="2423160" cy="347472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3383280" y="2084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Tasa aprobación DOM 1er intento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256032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usuarios en referidores activos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312724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técnica Colegio de Arquitectos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369417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éxito documentados con datos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23444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6126480" y="1234440"/>
            <a:ext cx="2697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6217920" y="137160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62179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12280" y="13898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6–12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1228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63640" y="2057400"/>
            <a:ext cx="2423160" cy="347472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6309360" y="2084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MRR mensual sostenido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63640" y="256032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Constructoras medianas (20–30 proy/año)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312724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digital con contenido normativo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369417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Valparaíso, Concepción, Antofagasta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/>
          <p:nvPr/>
        </p:nvSpPr>
        <p:spPr>
          <a:xfrm>
            <a:off x="274320" y="48006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al mercado: "Llega a la DOM con el proyecto aprobado desde el primer intento"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</a:rPr>
              <a:t>ROADMAP DEL NEGOCIO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ejecución — 36 meses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60604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1–6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1170432"/>
            <a:ext cx="297180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200400" y="11887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50876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7–18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1170432"/>
            <a:ext cx="260604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400800" y="11887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15087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19–36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1938528"/>
            <a:ext cx="256032" cy="8595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 rot="16200000">
            <a:off x="0" y="1938528"/>
            <a:ext cx="2560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74320" y="1938528"/>
            <a:ext cx="2606040" cy="8595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365760" y="1984248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PRC 30 comunas principales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2249424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análisis cortes y elevaciones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2514600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proceso &lt; 10 min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108960" y="1938528"/>
            <a:ext cx="2971800" cy="8595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3200400" y="1984248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BIM / IFC básica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00400" y="224942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para estudios grandes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0" y="2514600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seguimiento observaciones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309360" y="1938528"/>
            <a:ext cx="2606040" cy="8595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6400800" y="1984248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DWG nativa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0" y="2249424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instalaciones sanitarias/eléctricas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00800" y="2514600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Latam: Colombia, Perú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2889504"/>
            <a:ext cx="256032" cy="8595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 rot="16200000">
            <a:off x="0" y="2889504"/>
            <a:ext cx="2560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74320" y="2889504"/>
            <a:ext cx="26060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365760" y="2935224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early adopters activos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760" y="3200400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Colegio de Arquitectos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5760" y="3465576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referidos lanzado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108960" y="2889504"/>
            <a:ext cx="297180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3200400" y="293522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estudios pagando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00400" y="3200400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constructoras medianas contratadas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00400" y="3465576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digital con contenido normativo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309360" y="2889504"/>
            <a:ext cx="26060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/>
          <p:nvPr/>
        </p:nvSpPr>
        <p:spPr>
          <a:xfrm>
            <a:off x="6400800" y="2935224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 estudios activos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00800" y="3200400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municipio piloto (DOM)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00800" y="3465576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Valparaíso + Concepción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0" y="3840480"/>
            <a:ext cx="256032" cy="8595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Text 42"/>
          <p:cNvSpPr/>
          <p:nvPr/>
        </p:nvSpPr>
        <p:spPr>
          <a:xfrm rot="16200000">
            <a:off x="0" y="3840480"/>
            <a:ext cx="2560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FINANCIERO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74320" y="3840480"/>
            <a:ext cx="2606040" cy="8595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4"/>
          <p:cNvSpPr/>
          <p:nvPr/>
        </p:nvSpPr>
        <p:spPr>
          <a:xfrm>
            <a:off x="365760" y="3886200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operacional mes 8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65760" y="4151376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$15M CLP al cierre semestre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65760" y="441655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seed si se requiere capital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108960" y="3840480"/>
            <a:ext cx="2971800" cy="8595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0" name="Text 48"/>
          <p:cNvSpPr/>
          <p:nvPr/>
        </p:nvSpPr>
        <p:spPr>
          <a:xfrm>
            <a:off x="3200400" y="3886200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$50M CLP al mes 18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200400" y="4151376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positivo sostenido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200400" y="4416552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proyectado ~$500M CLP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309360" y="3840480"/>
            <a:ext cx="2606040" cy="8595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4" name="Text 52"/>
          <p:cNvSpPr/>
          <p:nvPr/>
        </p:nvSpPr>
        <p:spPr>
          <a:xfrm>
            <a:off x="6400800" y="3886200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$800M CLP (~USD 900k)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400800" y="4151376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Serie A si corresponde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400800" y="441655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replicable Latam validado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74320" y="4645152"/>
            <a:ext cx="854964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8" name="Shape 56"/>
          <p:cNvSpPr/>
          <p:nvPr/>
        </p:nvSpPr>
        <p:spPr>
          <a:xfrm>
            <a:off x="210312" y="4572000"/>
            <a:ext cx="128016" cy="12801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9" name="Text 57"/>
          <p:cNvSpPr/>
          <p:nvPr/>
        </p:nvSpPr>
        <p:spPr>
          <a:xfrm>
            <a:off x="0" y="47091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044952" y="4572000"/>
            <a:ext cx="128016" cy="12801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1" name="Text 59"/>
          <p:cNvSpPr/>
          <p:nvPr/>
        </p:nvSpPr>
        <p:spPr>
          <a:xfrm>
            <a:off x="2834640" y="47091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7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245352" y="4572000"/>
            <a:ext cx="128016" cy="12801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3" name="Text 61"/>
          <p:cNvSpPr/>
          <p:nvPr/>
        </p:nvSpPr>
        <p:spPr>
          <a:xfrm>
            <a:off x="6035040" y="47091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19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8759952" y="4572000"/>
            <a:ext cx="128016" cy="12801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5" name="Text 63"/>
          <p:cNvSpPr/>
          <p:nvPr/>
        </p:nvSpPr>
        <p:spPr>
          <a:xfrm>
            <a:off x="8549640" y="47091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36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7" name="Text 65"/>
          <p:cNvSpPr/>
          <p:nvPr/>
        </p:nvSpPr>
        <p:spPr>
          <a:xfrm>
            <a:off x="274320" y="491032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permanente: capturar mercado antes de que llegue competencia externa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</a:rPr>
              <a:t>PROYECCIONES FINANCIERAS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base — Ingresos mensuales (CLP millones)</a:t>
            </a:r>
            <a:endParaRPr lang="en-US" sz="2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143000"/>
          <a:ext cx="59436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400800" y="1143000"/>
            <a:ext cx="25603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6400800" y="1143000"/>
            <a:ext cx="25603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6492240" y="12435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clave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92240" y="15727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promedio: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818120" y="15727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$80.000/proyecto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92240" y="1938528"/>
            <a:ext cx="23774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6492240" y="19933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mes 12: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818120" y="19933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estudios pagando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92240" y="2359152"/>
            <a:ext cx="23774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6492240" y="241401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mes 36: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818120" y="24140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estudios activos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92240" y="2779776"/>
            <a:ext cx="23774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6492240" y="28346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Suscripciones: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818120" y="2834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mix desde mes 9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492240" y="3200400"/>
            <a:ext cx="23774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6492240" y="325526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mensual: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818120" y="32552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(base)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492240" y="3621024"/>
            <a:ext cx="23774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6492240" y="36758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Break-even: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818120" y="36758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8 base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492240" y="4041648"/>
            <a:ext cx="23774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/>
          <p:nvPr/>
        </p:nvSpPr>
        <p:spPr>
          <a:xfrm>
            <a:off x="6492240" y="40965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requerido: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818120" y="40965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$60–80M CLP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8"/>
          <p:cNvSpPr/>
          <p:nvPr/>
        </p:nvSpPr>
        <p:spPr>
          <a:xfrm>
            <a:off x="274320" y="48006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base: 300 estudios activos al año 3  ·  ARR $1.296M CLP (~USD 1.4M)  ·  Expansión Latam desde año 3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</a:rPr>
              <a:t>P&amp;L PROYECTADO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resultados simplificado — 3 años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859536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20040" y="12070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(CLP Millones/año)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86201" y="1215411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57800" y="122529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91274" y="12070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600200"/>
            <a:ext cx="8595360" cy="3017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320040" y="163677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0" y="163677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163677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$435M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52160" y="163677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$840M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163677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911096"/>
            <a:ext cx="85953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320040" y="1947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Pay-per-use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0" y="19476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19476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$305M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52160" y="19476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$504M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0" y="19476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221992"/>
            <a:ext cx="859536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320040" y="2258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Suscripciones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0" y="22585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22585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52160" y="22585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$336M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0" y="22585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532888"/>
            <a:ext cx="8595360" cy="301752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320040" y="25694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OPERATIVOS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26080" y="256946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($96M)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89120" y="256946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($216M)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52160" y="256946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($384M)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0" y="256946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2843784"/>
            <a:ext cx="859536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320040" y="2880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Equipo (3→6 personas)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926080" y="28803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($48M)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89120" y="28803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($96M)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52160" y="28803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($144M)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315200" y="28803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3154680"/>
            <a:ext cx="85953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320040" y="31912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API / Infraestructura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926080" y="319125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($12M)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389120" y="319125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($36M)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52160" y="319125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($72M)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15200" y="319125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3465576"/>
            <a:ext cx="859536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9" name="Text 47"/>
          <p:cNvSpPr/>
          <p:nvPr/>
        </p:nvSpPr>
        <p:spPr>
          <a:xfrm>
            <a:off x="320040" y="35021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Ventas y Marketing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926080" y="350215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($24M)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389120" y="350215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($60M)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852160" y="350215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($96M)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315200" y="350215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3776472"/>
            <a:ext cx="85953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5" name="Text 53"/>
          <p:cNvSpPr/>
          <p:nvPr/>
        </p:nvSpPr>
        <p:spPr>
          <a:xfrm>
            <a:off x="320040" y="38130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Legal / Admin / Otros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926080" y="38130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($12M)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389120" y="38130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($24M)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852160" y="38130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($72M)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315200" y="38130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74320" y="4087368"/>
            <a:ext cx="8595360" cy="30175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1" name="Text 59"/>
          <p:cNvSpPr/>
          <p:nvPr/>
        </p:nvSpPr>
        <p:spPr>
          <a:xfrm>
            <a:off x="320040" y="412394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926080" y="412394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$24M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389120" y="412394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$219M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852160" y="412394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$456M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315200" y="412394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74320" y="4398264"/>
            <a:ext cx="8595360" cy="30175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7" name="Text 65"/>
          <p:cNvSpPr/>
          <p:nvPr/>
        </p:nvSpPr>
        <p:spPr>
          <a:xfrm>
            <a:off x="320040" y="4434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EBITDA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926080" y="44348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389120" y="44348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852160" y="44348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7315200" y="44348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74320" y="4681728"/>
            <a:ext cx="5029200" cy="329184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3" name="Text 71"/>
          <p:cNvSpPr/>
          <p:nvPr/>
        </p:nvSpPr>
        <p:spPr>
          <a:xfrm>
            <a:off x="411480" y="47091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Break-even mes 8  ·  Capital requerido: $60–80M CLP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577840" y="4681728"/>
            <a:ext cx="329184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5" name="Text 73"/>
          <p:cNvSpPr/>
          <p:nvPr/>
        </p:nvSpPr>
        <p:spPr>
          <a:xfrm>
            <a:off x="5669280" y="47091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3 ARR: $840M CLP  ≈  USD 930k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</a:rPr>
              <a:t>EL GAP ESTRATÉGICO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producto tiene vs. lo que necesita para escalar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3931920" cy="353872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39319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 que ya tiene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técnico sólido y diferenciado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2311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visión computacional + IA funcionando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real con reporte de 14 páginas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2186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 con dolor validado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7124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activo en curso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46320" y="1170432"/>
            <a:ext cx="3931920" cy="353872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4846320" y="1170432"/>
            <a:ext cx="3931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502920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Lo que necesita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negocio formal y business plan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0" y="22311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pricing que capture el valor real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0" y="27249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 con canales de distribución claros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0" y="32186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para abrir puertas: Colegio, constructoras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0" y="37124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para escalar el piloto a producto comercial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60520" y="26060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274320" y="48006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gap no es técnico — es estratégico y comercial. Ahí es exactamente donde yo puedo aportar.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</a:rPr>
              <a:t>VALORIZACIÓN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Valorización</a:t>
            </a: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PM – considerer para </a:t>
            </a:r>
            <a:r>
              <a:rPr lang="en-US" sz="2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rondas</a:t>
            </a: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160520" cy="1463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64008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Valorización pre-money estimada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$350M – $500M CLP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Berkus + múltiplo forward revenue. Sin revenue probado se aplica descuento por riesgo.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</a:rPr>
              <a:t>VALORIZACIÓN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</a:t>
            </a: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Valorización</a:t>
            </a: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2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</a:t>
            </a: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122529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$46M CLP aporte combinado  ·  ~11% inicial  ·  Dilución estimada a ~8% post ronda seed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859536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28800" y="1783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Año 4–5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46120" y="17830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0" y="17830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empresa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63640" y="17830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98080" y="17830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148840"/>
            <a:ext cx="8595360" cy="530352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365760" y="2276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😟  Pesimista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28800" y="22768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$300M CLP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46120" y="22768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89120" y="22768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$900M CLP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63640" y="22768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98080" y="22768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715768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365760" y="28437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Base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828800" y="28437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$840M CLP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46120" y="2843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89120" y="28437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$4.200M CLP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63640" y="284378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0" y="28437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3282696"/>
            <a:ext cx="859536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365760" y="3410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Optimista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828800" y="34107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$1.500M CLP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46120" y="34107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7x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389120" y="34107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$10.500M CLP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63640" y="34107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498080" y="34107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3849624"/>
            <a:ext cx="859536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36576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🌎  Latam Scale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828800" y="39776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$3.000M CLP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46120" y="39776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389120" y="3977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$24.000M CLP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63640" y="3977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498080" y="3977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74320" y="4434840"/>
            <a:ext cx="8595360" cy="256032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Shape 4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4"/>
          <p:cNvSpPr/>
          <p:nvPr/>
        </p:nvSpPr>
        <p:spPr>
          <a:xfrm>
            <a:off x="274320" y="48006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base: $336M CLP recuperados sobre $46M invertidos  ·  Capital ilíquido 4–7 años  ·  Riesgo de pérdida total real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</a:rPr>
              <a:t>ANTES DE SEGUIR ADELANTE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clave para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cofounders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45720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160520" cy="107899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64008" cy="10789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02920" y="139903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tendría que pasar en los próximos 12 meses para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consideren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esto un éxito?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160520" cy="107899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4D399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64008" cy="10789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937760" y="139903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usuarios del piloto usarían la herramienta mañana si tuvieran que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- 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9842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respuesta honesta a esta pregunta vale más que cualquier proyección.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514600"/>
            <a:ext cx="4160520" cy="107899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A78BF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320040" y="2514600"/>
            <a:ext cx="64008" cy="10789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502920" y="258775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¿Estás buscando capital actualmente, y para qué específicamente?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514600"/>
            <a:ext cx="4160520" cy="107899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4754880" y="2514600"/>
            <a:ext cx="64008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4937760" y="258775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lo que más te preocupa del negocio hoy?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172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703320"/>
            <a:ext cx="4160520" cy="107899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320040" y="3703320"/>
            <a:ext cx="64008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502920" y="377647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¿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gustaría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crecer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–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(regiones,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ampliarse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703320"/>
            <a:ext cx="4160520" cy="107899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754880" y="3703320"/>
            <a:ext cx="64008" cy="10789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4937760" y="377647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ves tu rol en esto en 3 años — operando la empresa o habiendo hecho un exit? ¿Has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exit? (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vender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software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Autodesk a modo de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31" name="Text 29"/>
          <p:cNvSpPr/>
          <p:nvPr/>
        </p:nvSpPr>
        <p:spPr>
          <a:xfrm>
            <a:off x="274320" y="48006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2319</TotalTime>
  <Words>1678</Words>
  <Application>Microsoft Office PowerPoint</Application>
  <PresentationFormat>Presentación en pantalla (16:9)</PresentationFormat>
  <Paragraphs>332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ArchiCheck — Análisis Estratégico Completo</dc:title>
  <dc:subject>PptxGenJS Presentation</dc:subject>
  <dc:creator>PptxGenJS</dc:creator>
  <cp:lastModifiedBy>Mauricio Gherardelli</cp:lastModifiedBy>
  <cp:revision>2</cp:revision>
  <dcterms:created xsi:type="dcterms:W3CDTF">2026-05-10T11:39:54Z</dcterms:created>
  <dcterms:modified xsi:type="dcterms:W3CDTF">2026-05-12T13:51:18Z</dcterms:modified>
</cp:coreProperties>
</file>