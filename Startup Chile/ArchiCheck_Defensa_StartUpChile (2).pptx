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80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474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Permiso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863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paraliza la obra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4264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Según norma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502920" cy="256032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642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días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20848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CChC (promedio real)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304288"/>
            <a:ext cx="32004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304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848 días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27249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Colliers / Portal Inmobiliario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944368"/>
            <a:ext cx="1874520" cy="256032"/>
          </a:xfrm>
          <a:prstGeom prst="rect">
            <a:avLst/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9443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465 días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4320" y="385876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revisiones explican &gt;70% del tiempo de tramitación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44622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CChC Observatorio · Colliers/PortalInmobiliario · MINVU DDU-ESP-019-09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023360" y="34747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financiero real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023360" y="7132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escenarios calculados sobre demoras reales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23360" y="1024128"/>
            <a:ext cx="4663440" cy="841248"/>
          </a:xfrm>
          <a:prstGeom prst="roundRect">
            <a:avLst>
              <a:gd name="adj" fmla="val 10870"/>
            </a:avLst>
          </a:prstGeom>
          <a:solidFill>
            <a:srgbClr val="EBF5FF"/>
          </a:solidFill>
          <a:ln w="12700">
            <a:solidFill>
              <a:srgbClr val="EBF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4528" y="10972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Edificio colectivo — 9 pisos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24528" y="13167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UF 207.360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55664" y="1060704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+UF 16.589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55664" y="1408176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del presupuesto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24528" y="1572768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financiero por retraso de 753 días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023360" y="1993392"/>
            <a:ext cx="4663440" cy="841248"/>
          </a:xfrm>
          <a:prstGeom prst="roundRect">
            <a:avLst>
              <a:gd name="adj" fmla="val 10870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24528" y="20665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Ampliación comercial &lt; 100 m²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24528" y="22860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UF 2.400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55664" y="2029968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 6.000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55664" y="237744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+250% del proyecto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24528" y="2542032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perdidas · 6 meses de cierre en mall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023360" y="2962656"/>
            <a:ext cx="4663440" cy="841248"/>
          </a:xfrm>
          <a:prstGeom prst="roundRect">
            <a:avLst>
              <a:gd name="adj" fmla="val 10870"/>
            </a:avLst>
          </a:prstGeom>
          <a:solidFill>
            <a:srgbClr val="EDFAF1"/>
          </a:solidFill>
          <a:ln w="12700">
            <a:solidFill>
              <a:srgbClr val="EDFA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24528" y="30358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Vivienda particular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24528" y="32552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UF 5.000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55664" y="2999232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+UF 745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55664" y="3346704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del presupuesto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24528" y="3511296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en espera + arriendo del propietario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023360" y="395020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ofrece algo similar hoy en Chile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023360" y="4206240"/>
            <a:ext cx="2231136" cy="237744"/>
          </a:xfrm>
          <a:prstGeom prst="roundRect">
            <a:avLst>
              <a:gd name="adj" fmla="val 23077"/>
            </a:avLst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96512" y="420624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 · CChC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96512" y="4480560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Servicio: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18304" y="4480560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de completitud documental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096512" y="4626864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Ventaja: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718304" y="4626864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 · gratuito para el gremio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096512" y="4773168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Falencia: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718304" y="4773168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analiza el plano · 24/24 normas sin revisar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096512" y="4919472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Precio: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18304" y="491947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Incluido en la CChC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400800" y="4206240"/>
            <a:ext cx="2231136" cy="237744"/>
          </a:xfrm>
          <a:prstGeom prst="roundRect">
            <a:avLst>
              <a:gd name="adj" fmla="val 2307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3952" y="420624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Revisor independiente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73952" y="4480560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Servicio: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095744" y="4480560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manual artículo por artículo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473952" y="4626864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Ventaja: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095744" y="4626864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Profundidad técnica real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473952" y="4773168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Falencia: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095744" y="4773168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Lento · varía por persona · sujeto a agenda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473952" y="4919472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Precio: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095744" y="491947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USD 300 por expediente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 competitiva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120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proyecto analizado por ArchiCheck y Revi · comparación directa, no opinión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0" y="548640"/>
            <a:ext cx="164592" cy="1188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84848" y="5303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ArchiCheck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662672" y="548640"/>
            <a:ext cx="164592" cy="118872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530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786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Consistencia y coherencia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0" y="804672"/>
            <a:ext cx="1536192" cy="104607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18789"/>
            <a:ext cx="1536192" cy="104607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804672"/>
            <a:ext cx="182880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840480" y="918789"/>
            <a:ext cx="182880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Observaciones básicas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0" y="1133856"/>
            <a:ext cx="1536192" cy="104607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1247973"/>
            <a:ext cx="1536192" cy="104607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1133856"/>
            <a:ext cx="182880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40480" y="1247973"/>
            <a:ext cx="182880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6576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de planos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86000" y="1463040"/>
            <a:ext cx="1280160" cy="104607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1577157"/>
            <a:ext cx="768096" cy="104607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4448" y="1463040"/>
            <a:ext cx="182880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072384" y="1577157"/>
            <a:ext cx="182880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5760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en planos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0" y="1792224"/>
            <a:ext cx="1536192" cy="104607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1906341"/>
            <a:ext cx="768096" cy="104607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1792224"/>
            <a:ext cx="182880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072384" y="1906341"/>
            <a:ext cx="182880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6576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espacial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286000" y="2121408"/>
            <a:ext cx="1536192" cy="104607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0" y="2235525"/>
            <a:ext cx="256032" cy="104607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2121408"/>
            <a:ext cx="182880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560320" y="2235525"/>
            <a:ext cx="182880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65760" y="2432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Observaciones espaciales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0" y="2450592"/>
            <a:ext cx="1280160" cy="104607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0" y="2564709"/>
            <a:ext cx="256032" cy="104607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84448" y="2450592"/>
            <a:ext cx="182880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560320" y="2564709"/>
            <a:ext cx="182880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65760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Admisibilidad y concordancia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286000" y="2779776"/>
            <a:ext cx="1792224" cy="104607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0" y="2893893"/>
            <a:ext cx="1792224" cy="104607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96512" y="2779776"/>
            <a:ext cx="182880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096512" y="2893893"/>
            <a:ext cx="182880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6576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Reconoce documentación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286000" y="3108960"/>
            <a:ext cx="2048256" cy="104607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0" y="3223077"/>
            <a:ext cx="1536192" cy="104607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52544" y="3108960"/>
            <a:ext cx="182880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840480" y="3223077"/>
            <a:ext cx="182880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7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65760" y="34564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hallazgos ArchiCheck vs 7 de Revi · mismo proyecto piloto · 24/24 normas urbanísticas "no revisado" por Revi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029200" y="8046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29200" y="1060704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38928" y="1115568"/>
            <a:ext cx="3438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Contrasta el expediente completo contra OGUC · LGUC · DDU · PRC, artículo por artículo. Disponible 7×24 desde el anteproyecto. Indica qué incumple y qué corregir.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029200" y="16824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Diferenciadores clave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029200" y="1938528"/>
            <a:ext cx="1755648" cy="438912"/>
          </a:xfrm>
          <a:prstGeom prst="roundRect">
            <a:avLst>
              <a:gd name="adj" fmla="val 20833"/>
            </a:avLst>
          </a:prstGeom>
          <a:solidFill>
            <a:srgbClr val="EBF0FF"/>
          </a:solidFill>
          <a:ln w="12700">
            <a:solidFill>
              <a:srgbClr val="EBF0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20640" y="1975104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Análisis geométrico real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120640" y="2157984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Mide pendientes, anchos y superficies desde el plano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912864" y="1938528"/>
            <a:ext cx="1755648" cy="438912"/>
          </a:xfrm>
          <a:prstGeom prst="roundRect">
            <a:avLst>
              <a:gd name="adj" fmla="val 20833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04304" y="1975104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Análisis incremental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004304" y="2157984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Reanálisis ilimitado · mejora con cada iteración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029200" y="2432304"/>
            <a:ext cx="1755648" cy="438912"/>
          </a:xfrm>
          <a:prstGeom prst="roundRect">
            <a:avLst>
              <a:gd name="adj" fmla="val 20833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20640" y="246888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Feedback del arquitecto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120640" y="265176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 nuevos criterios en revisiones futuras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912864" y="2432304"/>
            <a:ext cx="1755648" cy="438912"/>
          </a:xfrm>
          <a:prstGeom prst="roundRect">
            <a:avLst>
              <a:gd name="adj" fmla="val 20833"/>
            </a:avLst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04304" y="246888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Consistente siempre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004304" y="265176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variabilidad entre proyectos ni revisores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029200" y="2926080"/>
            <a:ext cx="1755648" cy="438912"/>
          </a:xfrm>
          <a:prstGeom prst="roundRect">
            <a:avLst>
              <a:gd name="adj" fmla="val 20833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20640" y="296265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7×24 · desde anteproyecto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120640" y="314553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solo antes del ingreso — todo el ciclo de diseño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912864" y="2926080"/>
            <a:ext cx="1755648" cy="438912"/>
          </a:xfrm>
          <a:prstGeom prst="roundRect">
            <a:avLst>
              <a:gd name="adj" fmla="val 20833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004304" y="296265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OGUC · DDU · PRC · LGUC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004304" y="314553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Normativa local estructurada · única en Chile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029200" y="3456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técnico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65760" y="3694176"/>
            <a:ext cx="2697480" cy="768096"/>
          </a:xfrm>
          <a:prstGeom prst="roundRect">
            <a:avLst>
              <a:gd name="adj" fmla="val 9524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5488" y="373075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Completado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475488" y="3895344"/>
            <a:ext cx="2487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1–3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75488" y="4050792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Motor normativo OGUC/DDU/PRC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475488" y="4206240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OpenCV · DINO · SAM2 · ~75–80% precisión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3081528" y="3950208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3200400" y="3694176"/>
            <a:ext cx="2697480" cy="768096"/>
          </a:xfrm>
          <a:prstGeom prst="roundRect">
            <a:avLst>
              <a:gd name="adj" fmla="val 9524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10128" y="373075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Ignite (próximos 4 meses)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3310128" y="3895344"/>
            <a:ext cx="2487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3b + 4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3310128" y="4050792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U-Net + MLSTRUCT-FP · IoU ≥ 0.90 · ≥90% precisión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3310128" y="4206240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Validación arquitectos · 10 comunas RM · multi-doc (en curso)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5916168" y="3950208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6035040" y="3694176"/>
            <a:ext cx="2697480" cy="768096"/>
          </a:xfrm>
          <a:prstGeom prst="roundRect">
            <a:avLst>
              <a:gd name="adj" fmla="val 9524"/>
            </a:avLst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44768" y="373075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Post-Ignite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144768" y="3895344"/>
            <a:ext cx="2487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144768" y="4050792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Más comunas · revisores privados · CChC canal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6144768" y="4206240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Municipios B2G · Latam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365760" y="4700016"/>
            <a:ext cx="8321040" cy="292608"/>
          </a:xfrm>
          <a:prstGeom prst="roundRect">
            <a:avLst>
              <a:gd name="adj" fmla="val 31250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65760" y="4700016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solo IA — análisis incremental · aprende con cada revisión · siempre es la misma para el arquitecto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negocio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3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valor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011680" cy="1536192"/>
          </a:xfrm>
          <a:prstGeom prst="roundRect">
            <a:avLst>
              <a:gd name="adj" fmla="val 357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Revisión normativa automatizada de planos: OGUC · LGUC · DDU · PRC comunal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Detecta lo que la DOM observará antes de presentar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7×24, desde el anteproyecto, en minutos · USD 100/expediente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7132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713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 objetivo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024128"/>
            <a:ext cx="2011680" cy="1536192"/>
          </a:xfrm>
          <a:prstGeom prst="roundRect">
            <a:avLst>
              <a:gd name="adj" fmla="val 3571"/>
            </a:avLst>
          </a:prstGeom>
          <a:solidFill>
            <a:srgbClr val="EAF7F9"/>
          </a:solidFill>
          <a:ln w="12700">
            <a:solidFill>
              <a:srgbClr val="EAF7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078992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Early adopter: estudios 1–5 personas, sin revisor interno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51760" y="1362456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Core: estudios medianos con volumen recurrente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51760" y="1645920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Canal: constructoras con arquitectos internos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51760" y="1929384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Revisores privados: escalan su capacidad con ArchiCheck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651760" y="2212848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B2B Canal: CChC · revisión de planos para Revi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754880" y="7132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713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Canales de distribución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024128"/>
            <a:ext cx="2011680" cy="1536192"/>
          </a:xfrm>
          <a:prstGeom prst="roundRect">
            <a:avLst>
              <a:gd name="adj" fmla="val 3571"/>
            </a:avLst>
          </a:prstGeom>
          <a:solidFill>
            <a:srgbClr val="EDFAF1"/>
          </a:solidFill>
          <a:ln w="12700">
            <a:solidFill>
              <a:srgbClr val="EDFA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07899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AOA + Colegio de Arquitectos (canal institucional directo)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15544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Referidos entre estudios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202996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 Construcción · ferias de industria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49440" y="7132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713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ingresos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49440" y="1024128"/>
            <a:ext cx="2011680" cy="1536192"/>
          </a:xfrm>
          <a:prstGeom prst="roundRect">
            <a:avLst>
              <a:gd name="adj" fmla="val 3571"/>
            </a:avLst>
          </a:prstGeom>
          <a:solidFill>
            <a:srgbClr val="FEF9EF"/>
          </a:solidFill>
          <a:ln w="12700">
            <a:solidFill>
              <a:srgbClr val="FEF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1078992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Fijo por proyecto: USD 50–100/expediente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040880" y="1362456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Suscripción mensual: USD 300/mes ilimitado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040880" y="1645920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% del valor del proyecto (a validar)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040880" y="1929384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B2G (Etapa 2): SaaS municipios · FNDR/FIC-R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040880" y="2212848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★ Estrategia de precio: en validación con primeros clientes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65760" y="2724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017520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EBF0FF"/>
          </a:solidFill>
          <a:ln w="12700">
            <a:solidFill>
              <a:srgbClr val="EBF0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05409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25526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6,0M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457200" y="35661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60.000 expedientes × USD 100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084832" y="3017520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76272" y="305409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176272" y="325526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3,8M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2176272" y="35661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38.400 expedientes (−obras menores, −resto RM)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803904" y="3017520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F3E5F5"/>
          </a:solidFill>
          <a:ln w="12700">
            <a:solidFill>
              <a:srgbClr val="F3E5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95344" y="305409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95344" y="325526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600K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3895344" y="35661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6.000 expedientes · 3 años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559552" y="272491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59552" y="3017520"/>
            <a:ext cx="3127248" cy="1170432"/>
          </a:xfrm>
          <a:prstGeom prst="roundRect">
            <a:avLst>
              <a:gd name="adj" fmla="val 781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50992" y="3090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14032" y="309067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7.000/estudio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50992" y="33649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(hipótesis)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14032" y="33649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300/estudio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650992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/ CAC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14032" y="36393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23×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50992" y="39136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mes 12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14032" y="39136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15.750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39867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42793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" y="43159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75488" y="45537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estudios · Canal AOA y Colegio · 20 comunas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200400" y="42793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10128" y="43159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2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310128" y="45537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estudios · FIC-R/FNDR · inicio Latam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035040" y="42793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44768" y="43159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3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144768" y="45537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 Latam · Perú, Colombia, Argentina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Tracción · Equipo ·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en producción — caso real documentado — sin ventas aún · Ignite nos lleva de validación técnica a primeros clientes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0241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09344" y="107899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páginas · informe real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 Providencia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987552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73552" y="10241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443984" y="107899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 detectados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7 de Revi · mismo caso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0" y="987552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08192" y="10241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278624" y="107899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chilenos 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propio (MLSTRUCT-FP)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0665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2432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Nicolás Estragues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" y="26700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· Team Leader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Civil Industrial + Magíster Marketing (U. de Chile) · 23 años en desarrollo de producto, fintech y expansión Latam · Full-time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0" y="237744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8416" y="2432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Cristian Wrbka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28416" y="26700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Expert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2841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Magíster Arquitectura UC · 20 años en proyectos de innovación y redes de industria · Acceso AOA + Colegio de Arquitectos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35040" y="237744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2432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Allué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63056" y="26700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9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63056" y="287121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2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años preparando expedientes y enfrentando revisiones DOM · Conoce los criterios reales desde adentro · Validó el motor normativo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360273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logramos en los 4 meses de Ignite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895344"/>
            <a:ext cx="1975104" cy="804672"/>
          </a:xfrm>
          <a:prstGeom prst="roundRect">
            <a:avLst>
              <a:gd name="adj" fmla="val 11364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9319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38912" y="4334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activos pagando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14600" y="3895344"/>
            <a:ext cx="1975104" cy="804672"/>
          </a:xfrm>
          <a:prstGeom prst="roundRect">
            <a:avLst>
              <a:gd name="adj" fmla="val 11364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87752" y="39319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587752" y="4334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comunas RM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motor normativo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3895344"/>
            <a:ext cx="1975104" cy="804672"/>
          </a:xfrm>
          <a:prstGeom prst="roundRect">
            <a:avLst>
              <a:gd name="adj" fmla="val 11364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39319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6K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736592" y="4334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al cierre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programa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12280" y="3895344"/>
            <a:ext cx="1975104" cy="804672"/>
          </a:xfrm>
          <a:prstGeom prst="roundRect">
            <a:avLst>
              <a:gd name="adj" fmla="val 11364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85432" y="39319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≥90%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885432" y="43342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validada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arquitectos reales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5760" y="4773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974336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162B4A"/>
          </a:solidFill>
          <a:ln w="12700">
            <a:solidFill>
              <a:srgbClr val="162B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98348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Hoy: MVP · estudios de arquitectura · OGUC / DDU / PRC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00400" y="4974336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00879A"/>
          </a:solidFill>
          <a:ln w="12700">
            <a:solidFill>
              <a:srgbClr val="0087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498348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Ignite: PMF · revisores privados · multi-documento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035040" y="4974336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E8901A"/>
          </a:solidFill>
          <a:ln w="12700">
            <a:solidFill>
              <a:srgbClr val="E890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498348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Escala: CChC / B2B canal · municipios B2G · Latam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2026-07-02T03:27:55Z</dcterms:created>
  <dcterms:modified xsi:type="dcterms:W3CDTF">2026-07-02T03:27:55Z</dcterms:modified>
</cp:coreProperties>
</file>