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as.estragues\Documents\Claude\archicheck\Startup%20Chile\IArq%2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Revi vs Archicheck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Hoja1!$D$3</c:f>
              <c:strCache>
                <c:ptCount val="1"/>
                <c:pt idx="0">
                  <c:v>Revi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Hoja1!$B$4:$B$11</c:f>
              <c:strCache>
                <c:ptCount val="8"/>
                <c:pt idx="0">
                  <c:v>Consistencia y Coherencia</c:v>
                </c:pt>
                <c:pt idx="1">
                  <c:v>Observaciones básicas</c:v>
                </c:pt>
                <c:pt idx="2">
                  <c:v>Lectura de planos</c:v>
                </c:pt>
                <c:pt idx="3">
                  <c:v>Datos en planos</c:v>
                </c:pt>
                <c:pt idx="4">
                  <c:v>Analisis espacial</c:v>
                </c:pt>
                <c:pt idx="5">
                  <c:v>Observaciones espaciales</c:v>
                </c:pt>
                <c:pt idx="6">
                  <c:v>Admisibilidad y Concordancia</c:v>
                </c:pt>
                <c:pt idx="7">
                  <c:v>Reconoce Documentación</c:v>
                </c:pt>
              </c:strCache>
            </c:strRef>
          </c:cat>
          <c:val>
            <c:numRef>
              <c:f>Hoja1!$D$4:$D$11</c:f>
              <c:numCache>
                <c:formatCode>General</c:formatCode>
                <c:ptCount val="8"/>
                <c:pt idx="0">
                  <c:v>6</c:v>
                </c:pt>
                <c:pt idx="1">
                  <c:v>6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7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3C-4582-95D9-DFAD8C85DF2D}"/>
            </c:ext>
          </c:extLst>
        </c:ser>
        <c:ser>
          <c:idx val="1"/>
          <c:order val="1"/>
          <c:tx>
            <c:strRef>
              <c:f>Hoja1!$E$3</c:f>
              <c:strCache>
                <c:ptCount val="1"/>
                <c:pt idx="0">
                  <c:v>Archicheck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Hoja1!$B$4:$B$11</c:f>
              <c:strCache>
                <c:ptCount val="8"/>
                <c:pt idx="0">
                  <c:v>Consistencia y Coherencia</c:v>
                </c:pt>
                <c:pt idx="1">
                  <c:v>Observaciones básicas</c:v>
                </c:pt>
                <c:pt idx="2">
                  <c:v>Lectura de planos</c:v>
                </c:pt>
                <c:pt idx="3">
                  <c:v>Datos en planos</c:v>
                </c:pt>
                <c:pt idx="4">
                  <c:v>Analisis espacial</c:v>
                </c:pt>
                <c:pt idx="5">
                  <c:v>Observaciones espaciales</c:v>
                </c:pt>
                <c:pt idx="6">
                  <c:v>Admisibilidad y Concordancia</c:v>
                </c:pt>
                <c:pt idx="7">
                  <c:v>Reconoce Documentación</c:v>
                </c:pt>
              </c:strCache>
            </c:strRef>
          </c:cat>
          <c:val>
            <c:numRef>
              <c:f>Hoja1!$E$4:$E$11</c:f>
              <c:numCache>
                <c:formatCode>General</c:formatCode>
                <c:ptCount val="8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3C-4582-95D9-DFAD8C85DF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7703471"/>
        <c:axId val="617691407"/>
      </c:radarChart>
      <c:catAx>
        <c:axId val="617703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617691407"/>
        <c:crosses val="autoZero"/>
        <c:auto val="1"/>
        <c:lblAlgn val="ctr"/>
        <c:lblOffset val="100"/>
        <c:noMultiLvlLbl val="0"/>
      </c:catAx>
      <c:valAx>
        <c:axId val="61769140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7703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accent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4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80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Permiso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86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paraliza la obra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426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</a:t>
            </a:r>
            <a:r>
              <a:rPr lang="en-US" sz="10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502920" cy="256032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días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CChC (promedio real)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32004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10" name="Text 8"/>
          <p:cNvSpPr/>
          <p:nvPr/>
        </p:nvSpPr>
        <p:spPr>
          <a:xfrm>
            <a:off x="27432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848 días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7249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Colliers / Portal Inmobiliario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1874520" cy="25603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13" name="Text 11"/>
          <p:cNvSpPr/>
          <p:nvPr/>
        </p:nvSpPr>
        <p:spPr>
          <a:xfrm>
            <a:off x="274320" y="29443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465 días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8587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revisiones explican &gt;70% del tiempo de tramitación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462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CChC Observatorio · Colliers/PortalInmobiliario · MINVU DDU-ESP-019-09</a:t>
            </a:r>
            <a:endParaRPr lang="en-US" sz="900" dirty="0"/>
          </a:p>
        </p:txBody>
      </p:sp>
      <p:grpSp>
        <p:nvGrpSpPr>
          <p:cNvPr id="78" name="Grupo 77">
            <a:extLst>
              <a:ext uri="{FF2B5EF4-FFF2-40B4-BE49-F238E27FC236}">
                <a16:creationId xmlns:a16="http://schemas.microsoft.com/office/drawing/2014/main" id="{DBC23181-FF30-6E90-8A29-6239103B29C6}"/>
              </a:ext>
            </a:extLst>
          </p:cNvPr>
          <p:cNvGrpSpPr/>
          <p:nvPr/>
        </p:nvGrpSpPr>
        <p:grpSpPr>
          <a:xfrm>
            <a:off x="4023360" y="12931"/>
            <a:ext cx="4663440" cy="3627309"/>
            <a:chOff x="4023360" y="12931"/>
            <a:chExt cx="4663440" cy="3627309"/>
          </a:xfrm>
        </p:grpSpPr>
        <p:sp>
          <p:nvSpPr>
            <p:cNvPr id="16" name="Text 14"/>
            <p:cNvSpPr/>
            <p:nvPr/>
          </p:nvSpPr>
          <p:spPr>
            <a:xfrm>
              <a:off x="4023360" y="12931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Impacto financiero real</a:t>
              </a:r>
              <a:endParaRPr lang="en-US" sz="18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023360" y="573434"/>
              <a:ext cx="4663440" cy="937071"/>
            </a:xfrm>
            <a:prstGeom prst="roundRect">
              <a:avLst>
                <a:gd name="adj" fmla="val 8065"/>
              </a:avLst>
            </a:prstGeom>
            <a:solidFill>
              <a:srgbClr val="EBF5FF"/>
            </a:solidFill>
            <a:ln w="12700">
              <a:solidFill>
                <a:srgbClr val="EBF5FF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 17"/>
            <p:cNvSpPr/>
            <p:nvPr/>
          </p:nvSpPr>
          <p:spPr>
            <a:xfrm>
              <a:off x="4279392" y="566481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Edificio colectivo — 9 pisos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279392" y="822513"/>
              <a:ext cx="2743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Presupuesto: UF 207.360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492240" y="529905"/>
              <a:ext cx="20116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000" b="1" dirty="0">
                  <a:solidFill>
                    <a:srgbClr val="C0392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+UF 16.589</a:t>
              </a:r>
              <a:endParaRPr lang="en-US" sz="2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492240" y="913953"/>
              <a:ext cx="20116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50" b="1" dirty="0">
                  <a:solidFill>
                    <a:srgbClr val="E890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+8% del presupuesto</a:t>
              </a:r>
              <a:endParaRPr lang="en-US" sz="9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279392" y="1096833"/>
              <a:ext cx="431596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 costo financiero por retraso de 753 días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023360" y="1634586"/>
              <a:ext cx="4663440" cy="937071"/>
            </a:xfrm>
            <a:prstGeom prst="roundRect">
              <a:avLst>
                <a:gd name="adj" fmla="val 8065"/>
              </a:avLst>
            </a:prstGeom>
            <a:solidFill>
              <a:srgbClr val="FEF3E2"/>
            </a:solidFill>
            <a:ln w="12700">
              <a:solidFill>
                <a:srgbClr val="FEF3E2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 23"/>
            <p:cNvSpPr/>
            <p:nvPr/>
          </p:nvSpPr>
          <p:spPr>
            <a:xfrm>
              <a:off x="4279392" y="1627633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Ampliación comercial &lt; 100 m²</a:t>
              </a:r>
              <a:endParaRPr lang="en-US" sz="11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279392" y="1883665"/>
              <a:ext cx="2743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Presupuesto: UF 2.400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492240" y="1591057"/>
              <a:ext cx="20116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000" b="1" dirty="0">
                  <a:solidFill>
                    <a:srgbClr val="C0392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UF 6.000</a:t>
              </a:r>
              <a:endParaRPr lang="en-US" sz="2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492240" y="1975105"/>
              <a:ext cx="20116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50" b="1" dirty="0">
                  <a:solidFill>
                    <a:srgbClr val="E890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+250% del proyecto</a:t>
              </a:r>
              <a:endParaRPr lang="en-US" sz="9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279392" y="2157985"/>
              <a:ext cx="431596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 ventas perdidas (6 meses de cierre de tienda en mall)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023360" y="2703169"/>
              <a:ext cx="4663440" cy="937071"/>
            </a:xfrm>
            <a:prstGeom prst="roundRect">
              <a:avLst>
                <a:gd name="adj" fmla="val 8065"/>
              </a:avLst>
            </a:prstGeom>
            <a:solidFill>
              <a:srgbClr val="EDFAF1"/>
            </a:solidFill>
            <a:ln w="12700">
              <a:solidFill>
                <a:srgbClr val="EDFAF1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 29"/>
            <p:cNvSpPr/>
            <p:nvPr/>
          </p:nvSpPr>
          <p:spPr>
            <a:xfrm>
              <a:off x="4279392" y="2696216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Vivienda particular</a:t>
              </a:r>
              <a:endParaRPr lang="en-US" sz="11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4279392" y="2952248"/>
              <a:ext cx="2743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Presupuesto: UF 5.000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492240" y="2659640"/>
              <a:ext cx="20116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000" b="1" dirty="0">
                  <a:solidFill>
                    <a:srgbClr val="C0392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+UF 745</a:t>
              </a:r>
              <a:endParaRPr lang="en-US" sz="2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492240" y="3043688"/>
              <a:ext cx="20116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50" b="1" dirty="0">
                  <a:solidFill>
                    <a:srgbClr val="E890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+15% del presupuesto</a:t>
              </a:r>
              <a:endParaRPr lang="en-US" sz="9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279392" y="3226568"/>
              <a:ext cx="431596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equipo en espera + arriendo del propietario por 6 meses</a:t>
              </a:r>
              <a:endParaRPr lang="en-US" sz="1000" dirty="0"/>
            </a:p>
          </p:txBody>
        </p: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B41766BB-662D-7D37-23D6-19FE8355B486}"/>
              </a:ext>
            </a:extLst>
          </p:cNvPr>
          <p:cNvGrpSpPr/>
          <p:nvPr/>
        </p:nvGrpSpPr>
        <p:grpSpPr>
          <a:xfrm>
            <a:off x="3894209" y="3831264"/>
            <a:ext cx="6641862" cy="1106424"/>
            <a:chOff x="1374629" y="3831264"/>
            <a:chExt cx="6641862" cy="1106424"/>
          </a:xfrm>
        </p:grpSpPr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9155B7F4-B072-70CD-5D88-78C3EFEEC1D2}"/>
                </a:ext>
              </a:extLst>
            </p:cNvPr>
            <p:cNvSpPr/>
            <p:nvPr/>
          </p:nvSpPr>
          <p:spPr>
            <a:xfrm>
              <a:off x="3353051" y="3831264"/>
              <a:ext cx="46634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err="1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Oferta</a:t>
              </a:r>
              <a:r>
                <a:rPr lang="en-US" sz="10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000" b="1" dirty="0" err="1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 sz="10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Chile</a:t>
              </a:r>
              <a:endParaRPr lang="en-US" sz="1000" dirty="0"/>
            </a:p>
          </p:txBody>
        </p:sp>
        <p:sp>
          <p:nvSpPr>
            <p:cNvPr id="39" name="Shape 35">
              <a:extLst>
                <a:ext uri="{FF2B5EF4-FFF2-40B4-BE49-F238E27FC236}">
                  <a16:creationId xmlns:a16="http://schemas.microsoft.com/office/drawing/2014/main" id="{5F6C0498-E068-E2AF-2D2B-694038B674C0}"/>
                </a:ext>
              </a:extLst>
            </p:cNvPr>
            <p:cNvSpPr/>
            <p:nvPr/>
          </p:nvSpPr>
          <p:spPr>
            <a:xfrm>
              <a:off x="3925140" y="4087296"/>
              <a:ext cx="2372712" cy="237744"/>
            </a:xfrm>
            <a:prstGeom prst="roundRect">
              <a:avLst>
                <a:gd name="adj" fmla="val 23077"/>
              </a:avLst>
            </a:prstGeom>
            <a:solidFill>
              <a:srgbClr val="1E7E4A"/>
            </a:solidFill>
            <a:ln w="12700">
              <a:solidFill>
                <a:srgbClr val="1E7E4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 36">
              <a:extLst>
                <a:ext uri="{FF2B5EF4-FFF2-40B4-BE49-F238E27FC236}">
                  <a16:creationId xmlns:a16="http://schemas.microsoft.com/office/drawing/2014/main" id="{731EF5F9-C648-6A1E-837A-625D817BCBCB}"/>
                </a:ext>
              </a:extLst>
            </p:cNvPr>
            <p:cNvSpPr/>
            <p:nvPr/>
          </p:nvSpPr>
          <p:spPr>
            <a:xfrm>
              <a:off x="3988092" y="4087296"/>
              <a:ext cx="2293315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 · CChC</a:t>
              </a:r>
              <a:endParaRPr lang="en-US" sz="900" dirty="0"/>
            </a:p>
          </p:txBody>
        </p:sp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B2D88C47-4CF6-DB2C-8926-BB936663923B}"/>
                </a:ext>
              </a:extLst>
            </p:cNvPr>
            <p:cNvSpPr/>
            <p:nvPr/>
          </p:nvSpPr>
          <p:spPr>
            <a:xfrm>
              <a:off x="3961909" y="4361616"/>
              <a:ext cx="66385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Servicio:</a:t>
              </a:r>
              <a:endParaRPr lang="en-US" sz="750" dirty="0"/>
            </a:p>
          </p:txBody>
        </p:sp>
        <p:sp>
          <p:nvSpPr>
            <p:cNvPr id="45" name="Text 38">
              <a:extLst>
                <a:ext uri="{FF2B5EF4-FFF2-40B4-BE49-F238E27FC236}">
                  <a16:creationId xmlns:a16="http://schemas.microsoft.com/office/drawing/2014/main" id="{AB498ECA-5C67-14AA-826F-1DCE4C47C533}"/>
                </a:ext>
              </a:extLst>
            </p:cNvPr>
            <p:cNvSpPr/>
            <p:nvPr/>
          </p:nvSpPr>
          <p:spPr>
            <a:xfrm>
              <a:off x="4389325" y="4361616"/>
              <a:ext cx="2142037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Revisa </a:t>
              </a: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consistencia</a:t>
              </a: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contenido</a:t>
              </a: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documental</a:t>
              </a:r>
              <a:endParaRPr lang="en-US" sz="750" dirty="0"/>
            </a:p>
          </p:txBody>
        </p:sp>
        <p:sp>
          <p:nvSpPr>
            <p:cNvPr id="47" name="Text 39">
              <a:extLst>
                <a:ext uri="{FF2B5EF4-FFF2-40B4-BE49-F238E27FC236}">
                  <a16:creationId xmlns:a16="http://schemas.microsoft.com/office/drawing/2014/main" id="{C25D460E-258B-A39E-B97E-C10A47B14D39}"/>
                </a:ext>
              </a:extLst>
            </p:cNvPr>
            <p:cNvSpPr/>
            <p:nvPr/>
          </p:nvSpPr>
          <p:spPr>
            <a:xfrm>
              <a:off x="3961909" y="4507920"/>
              <a:ext cx="66385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Ventaja:</a:t>
              </a:r>
              <a:endParaRPr lang="en-US" sz="750" dirty="0"/>
            </a:p>
          </p:txBody>
        </p:sp>
        <p:sp>
          <p:nvSpPr>
            <p:cNvPr id="49" name="Text 40">
              <a:extLst>
                <a:ext uri="{FF2B5EF4-FFF2-40B4-BE49-F238E27FC236}">
                  <a16:creationId xmlns:a16="http://schemas.microsoft.com/office/drawing/2014/main" id="{B164F68F-B594-3242-6473-FD5B416E188C}"/>
                </a:ext>
              </a:extLst>
            </p:cNvPr>
            <p:cNvSpPr/>
            <p:nvPr/>
          </p:nvSpPr>
          <p:spPr>
            <a:xfrm>
              <a:off x="4382068" y="4507920"/>
              <a:ext cx="2142037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Rápido · 24*7 . </a:t>
              </a: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Análisis</a:t>
              </a: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detallado</a:t>
              </a: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docs </a:t>
              </a:r>
              <a:endParaRPr lang="en-US" sz="750" dirty="0"/>
            </a:p>
          </p:txBody>
        </p:sp>
        <p:sp>
          <p:nvSpPr>
            <p:cNvPr id="51" name="Text 41">
              <a:extLst>
                <a:ext uri="{FF2B5EF4-FFF2-40B4-BE49-F238E27FC236}">
                  <a16:creationId xmlns:a16="http://schemas.microsoft.com/office/drawing/2014/main" id="{FA310920-5EA8-77D2-72D2-09229E39A9F6}"/>
                </a:ext>
              </a:extLst>
            </p:cNvPr>
            <p:cNvSpPr/>
            <p:nvPr/>
          </p:nvSpPr>
          <p:spPr>
            <a:xfrm>
              <a:off x="3961909" y="4654224"/>
              <a:ext cx="66385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Falencia:</a:t>
              </a:r>
              <a:endParaRPr lang="en-US" sz="750" dirty="0"/>
            </a:p>
          </p:txBody>
        </p:sp>
        <p:sp>
          <p:nvSpPr>
            <p:cNvPr id="53" name="Text 42">
              <a:extLst>
                <a:ext uri="{FF2B5EF4-FFF2-40B4-BE49-F238E27FC236}">
                  <a16:creationId xmlns:a16="http://schemas.microsoft.com/office/drawing/2014/main" id="{B536A630-7031-A2EE-B87F-B67288F201A4}"/>
                </a:ext>
              </a:extLst>
            </p:cNvPr>
            <p:cNvSpPr/>
            <p:nvPr/>
          </p:nvSpPr>
          <p:spPr>
            <a:xfrm>
              <a:off x="4382068" y="4646967"/>
              <a:ext cx="2142037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Análisis</a:t>
              </a: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plano </a:t>
              </a: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básico</a:t>
              </a: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e </a:t>
              </a: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inexacto</a:t>
              </a: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 </a:t>
              </a: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usabilidad</a:t>
              </a:r>
              <a:endParaRPr lang="en-US" sz="750" dirty="0"/>
            </a:p>
          </p:txBody>
        </p:sp>
        <p:sp>
          <p:nvSpPr>
            <p:cNvPr id="55" name="Text 43">
              <a:extLst>
                <a:ext uri="{FF2B5EF4-FFF2-40B4-BE49-F238E27FC236}">
                  <a16:creationId xmlns:a16="http://schemas.microsoft.com/office/drawing/2014/main" id="{F45382F4-EC12-0E48-9EF7-0B4F325071F9}"/>
                </a:ext>
              </a:extLst>
            </p:cNvPr>
            <p:cNvSpPr/>
            <p:nvPr/>
          </p:nvSpPr>
          <p:spPr>
            <a:xfrm>
              <a:off x="3961909" y="4800528"/>
              <a:ext cx="66385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Precio:</a:t>
              </a:r>
              <a:endParaRPr lang="en-US" sz="750" dirty="0"/>
            </a:p>
          </p:txBody>
        </p:sp>
        <p:sp>
          <p:nvSpPr>
            <p:cNvPr id="57" name="Text 44">
              <a:extLst>
                <a:ext uri="{FF2B5EF4-FFF2-40B4-BE49-F238E27FC236}">
                  <a16:creationId xmlns:a16="http://schemas.microsoft.com/office/drawing/2014/main" id="{E73257BB-F959-CFA2-CE99-287B2EE538D5}"/>
                </a:ext>
              </a:extLst>
            </p:cNvPr>
            <p:cNvSpPr/>
            <p:nvPr/>
          </p:nvSpPr>
          <p:spPr>
            <a:xfrm>
              <a:off x="4382068" y="4800528"/>
              <a:ext cx="2142037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Incluido en la CChC</a:t>
              </a:r>
              <a:endParaRPr lang="en-US" sz="750" dirty="0"/>
            </a:p>
          </p:txBody>
        </p:sp>
        <p:sp>
          <p:nvSpPr>
            <p:cNvPr id="59" name="Shape 45">
              <a:extLst>
                <a:ext uri="{FF2B5EF4-FFF2-40B4-BE49-F238E27FC236}">
                  <a16:creationId xmlns:a16="http://schemas.microsoft.com/office/drawing/2014/main" id="{84E9C15F-7E70-7168-6D2E-C4E674FC6B6A}"/>
                </a:ext>
              </a:extLst>
            </p:cNvPr>
            <p:cNvSpPr/>
            <p:nvPr/>
          </p:nvSpPr>
          <p:spPr>
            <a:xfrm>
              <a:off x="1382560" y="4087296"/>
              <a:ext cx="2266431" cy="237744"/>
            </a:xfrm>
            <a:prstGeom prst="roundRect">
              <a:avLst>
                <a:gd name="adj" fmla="val 23077"/>
              </a:avLst>
            </a:prstGeom>
            <a:solidFill>
              <a:srgbClr val="374151"/>
            </a:solidFill>
            <a:ln w="12700">
              <a:solidFill>
                <a:srgbClr val="374151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1" name="Text 46">
              <a:extLst>
                <a:ext uri="{FF2B5EF4-FFF2-40B4-BE49-F238E27FC236}">
                  <a16:creationId xmlns:a16="http://schemas.microsoft.com/office/drawing/2014/main" id="{28085B6E-5E3C-C48B-DD3F-7B9BEEA0CC5B}"/>
                </a:ext>
              </a:extLst>
            </p:cNvPr>
            <p:cNvSpPr/>
            <p:nvPr/>
          </p:nvSpPr>
          <p:spPr>
            <a:xfrm>
              <a:off x="1441535" y="4087296"/>
              <a:ext cx="20848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Revisor independiente</a:t>
              </a:r>
              <a:endParaRPr lang="en-US" sz="900" dirty="0"/>
            </a:p>
          </p:txBody>
        </p:sp>
        <p:sp>
          <p:nvSpPr>
            <p:cNvPr id="63" name="Text 47">
              <a:extLst>
                <a:ext uri="{FF2B5EF4-FFF2-40B4-BE49-F238E27FC236}">
                  <a16:creationId xmlns:a16="http://schemas.microsoft.com/office/drawing/2014/main" id="{E7AD9487-BCD3-0F04-F9BB-87E76DF7EB6B}"/>
                </a:ext>
              </a:extLst>
            </p:cNvPr>
            <p:cNvSpPr/>
            <p:nvPr/>
          </p:nvSpPr>
          <p:spPr>
            <a:xfrm>
              <a:off x="1374629" y="4361616"/>
              <a:ext cx="60350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Servicio:</a:t>
              </a:r>
              <a:endParaRPr lang="en-US" sz="750" dirty="0"/>
            </a:p>
          </p:txBody>
        </p:sp>
        <p:sp>
          <p:nvSpPr>
            <p:cNvPr id="65" name="Text 48">
              <a:extLst>
                <a:ext uri="{FF2B5EF4-FFF2-40B4-BE49-F238E27FC236}">
                  <a16:creationId xmlns:a16="http://schemas.microsoft.com/office/drawing/2014/main" id="{837C34A2-B44E-7AF4-F512-E013AC1815DF}"/>
                </a:ext>
              </a:extLst>
            </p:cNvPr>
            <p:cNvSpPr/>
            <p:nvPr/>
          </p:nvSpPr>
          <p:spPr>
            <a:xfrm>
              <a:off x="1798152" y="4361616"/>
              <a:ext cx="235624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Revisión manual artículo por artículo</a:t>
              </a:r>
              <a:endParaRPr lang="en-US" sz="750" dirty="0"/>
            </a:p>
          </p:txBody>
        </p:sp>
        <p:sp>
          <p:nvSpPr>
            <p:cNvPr id="67" name="Text 49">
              <a:extLst>
                <a:ext uri="{FF2B5EF4-FFF2-40B4-BE49-F238E27FC236}">
                  <a16:creationId xmlns:a16="http://schemas.microsoft.com/office/drawing/2014/main" id="{F355848A-E646-C51D-B6B4-04FD8E0234AC}"/>
                </a:ext>
              </a:extLst>
            </p:cNvPr>
            <p:cNvSpPr/>
            <p:nvPr/>
          </p:nvSpPr>
          <p:spPr>
            <a:xfrm>
              <a:off x="1374629" y="4507920"/>
              <a:ext cx="60350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Ventaja:</a:t>
              </a:r>
              <a:endParaRPr lang="en-US" sz="750" dirty="0"/>
            </a:p>
          </p:txBody>
        </p:sp>
        <p:sp>
          <p:nvSpPr>
            <p:cNvPr id="69" name="Text 50">
              <a:extLst>
                <a:ext uri="{FF2B5EF4-FFF2-40B4-BE49-F238E27FC236}">
                  <a16:creationId xmlns:a16="http://schemas.microsoft.com/office/drawing/2014/main" id="{EB492437-2790-89C7-CB9B-C0146263E042}"/>
                </a:ext>
              </a:extLst>
            </p:cNvPr>
            <p:cNvSpPr/>
            <p:nvPr/>
          </p:nvSpPr>
          <p:spPr>
            <a:xfrm>
              <a:off x="1798152" y="4507920"/>
              <a:ext cx="235624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Profundidad técnica real</a:t>
              </a:r>
              <a:endParaRPr lang="en-US" sz="750" dirty="0"/>
            </a:p>
          </p:txBody>
        </p:sp>
        <p:sp>
          <p:nvSpPr>
            <p:cNvPr id="71" name="Text 51">
              <a:extLst>
                <a:ext uri="{FF2B5EF4-FFF2-40B4-BE49-F238E27FC236}">
                  <a16:creationId xmlns:a16="http://schemas.microsoft.com/office/drawing/2014/main" id="{3B221FCF-E115-DB05-5843-EBF9B5B44821}"/>
                </a:ext>
              </a:extLst>
            </p:cNvPr>
            <p:cNvSpPr/>
            <p:nvPr/>
          </p:nvSpPr>
          <p:spPr>
            <a:xfrm>
              <a:off x="1374629" y="4654224"/>
              <a:ext cx="60350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Falencia:</a:t>
              </a:r>
              <a:endParaRPr lang="en-US" sz="750" dirty="0"/>
            </a:p>
          </p:txBody>
        </p:sp>
        <p:sp>
          <p:nvSpPr>
            <p:cNvPr id="73" name="Text 52">
              <a:extLst>
                <a:ext uri="{FF2B5EF4-FFF2-40B4-BE49-F238E27FC236}">
                  <a16:creationId xmlns:a16="http://schemas.microsoft.com/office/drawing/2014/main" id="{3BADB283-5D81-EFC8-8597-7FEE583FF930}"/>
                </a:ext>
              </a:extLst>
            </p:cNvPr>
            <p:cNvSpPr/>
            <p:nvPr/>
          </p:nvSpPr>
          <p:spPr>
            <a:xfrm>
              <a:off x="1798152" y="4654224"/>
              <a:ext cx="235624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Lento · varía por persona · Tiempo </a:t>
              </a: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incierto</a:t>
              </a:r>
              <a:endParaRPr lang="en-US" sz="750" dirty="0"/>
            </a:p>
          </p:txBody>
        </p:sp>
        <p:sp>
          <p:nvSpPr>
            <p:cNvPr id="75" name="Text 53">
              <a:extLst>
                <a:ext uri="{FF2B5EF4-FFF2-40B4-BE49-F238E27FC236}">
                  <a16:creationId xmlns:a16="http://schemas.microsoft.com/office/drawing/2014/main" id="{204EE226-4129-E48A-6428-63C2DD09A600}"/>
                </a:ext>
              </a:extLst>
            </p:cNvPr>
            <p:cNvSpPr/>
            <p:nvPr/>
          </p:nvSpPr>
          <p:spPr>
            <a:xfrm>
              <a:off x="1374629" y="4800528"/>
              <a:ext cx="60350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Precio:</a:t>
              </a:r>
              <a:endParaRPr lang="en-US" sz="750" dirty="0"/>
            </a:p>
          </p:txBody>
        </p:sp>
        <p:sp>
          <p:nvSpPr>
            <p:cNvPr id="77" name="Text 54">
              <a:extLst>
                <a:ext uri="{FF2B5EF4-FFF2-40B4-BE49-F238E27FC236}">
                  <a16:creationId xmlns:a16="http://schemas.microsoft.com/office/drawing/2014/main" id="{2D2560E4-294D-1EBB-FE34-DC26D5A64001}"/>
                </a:ext>
              </a:extLst>
            </p:cNvPr>
            <p:cNvSpPr/>
            <p:nvPr/>
          </p:nvSpPr>
          <p:spPr>
            <a:xfrm>
              <a:off x="1798152" y="4800528"/>
              <a:ext cx="235624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0,5% del </a:t>
              </a: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proyecto</a:t>
              </a: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75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completo</a:t>
              </a:r>
              <a:r>
                <a:rPr lang="en-US" sz="7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 sz="7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r>
              <a:rPr lang="en-US" sz="24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valor</a:t>
            </a:r>
            <a:endParaRPr lang="en-US" sz="2400" dirty="0"/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24CC2DD8-2E27-C2AC-8A9E-B88328390342}"/>
              </a:ext>
            </a:extLst>
          </p:cNvPr>
          <p:cNvGrpSpPr/>
          <p:nvPr/>
        </p:nvGrpSpPr>
        <p:grpSpPr>
          <a:xfrm>
            <a:off x="365760" y="773344"/>
            <a:ext cx="3657600" cy="2609936"/>
            <a:chOff x="5029200" y="755056"/>
            <a:chExt cx="3657600" cy="2609936"/>
          </a:xfrm>
        </p:grpSpPr>
        <p:sp>
          <p:nvSpPr>
            <p:cNvPr id="49" name="Text 47"/>
            <p:cNvSpPr/>
            <p:nvPr/>
          </p:nvSpPr>
          <p:spPr>
            <a:xfrm>
              <a:off x="5029200" y="755056"/>
              <a:ext cx="3657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 solución</a:t>
              </a:r>
              <a:endParaRPr lang="en-US" sz="11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029200" y="1011088"/>
              <a:ext cx="3657600" cy="548640"/>
            </a:xfrm>
            <a:prstGeom prst="roundRect">
              <a:avLst>
                <a:gd name="adj" fmla="val 16667"/>
              </a:avLst>
            </a:prstGeom>
            <a:solidFill>
              <a:srgbClr val="F2F5F8"/>
            </a:solidFill>
            <a:ln w="12700">
              <a:solidFill>
                <a:srgbClr val="F2F5F8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Text 49"/>
            <p:cNvSpPr/>
            <p:nvPr/>
          </p:nvSpPr>
          <p:spPr>
            <a:xfrm>
              <a:off x="5138928" y="1058864"/>
              <a:ext cx="343814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Contrasta el expediente completo contra OGUC · LGUC · DDU · PRC, artículo por artículo. Disponible 7×24 desde el anteproyecto. Indica qué incumple y qué corregir.</a:t>
              </a:r>
              <a:endParaRPr lang="en-US" sz="85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5029200" y="1682496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Diferenciadores clave</a:t>
              </a:r>
              <a:endParaRPr lang="en-US" sz="105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5029200" y="1938528"/>
              <a:ext cx="1755648" cy="438912"/>
            </a:xfrm>
            <a:prstGeom prst="roundRect">
              <a:avLst>
                <a:gd name="adj" fmla="val 20833"/>
              </a:avLst>
            </a:prstGeom>
            <a:solidFill>
              <a:srgbClr val="EBF0FF"/>
            </a:solidFill>
            <a:ln w="12700">
              <a:solidFill>
                <a:srgbClr val="EBF0FF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 52"/>
            <p:cNvSpPr/>
            <p:nvPr/>
          </p:nvSpPr>
          <p:spPr>
            <a:xfrm>
              <a:off x="5120640" y="1975104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📐 Análisis geométrico real</a:t>
              </a:r>
              <a:endParaRPr lang="en-US" sz="8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5120640" y="2157984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Mide pendientes, anchos y superficies desde el plano</a:t>
              </a:r>
              <a:endParaRPr lang="en-US" sz="7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6912864" y="1938528"/>
              <a:ext cx="1755648" cy="438912"/>
            </a:xfrm>
            <a:prstGeom prst="roundRect">
              <a:avLst>
                <a:gd name="adj" fmla="val 20833"/>
              </a:avLst>
            </a:prstGeom>
            <a:solidFill>
              <a:srgbClr val="E8F5E9"/>
            </a:solidFill>
            <a:ln w="12700">
              <a:solidFill>
                <a:srgbClr val="E8F5E9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Text 55"/>
            <p:cNvSpPr/>
            <p:nvPr/>
          </p:nvSpPr>
          <p:spPr>
            <a:xfrm>
              <a:off x="7004304" y="1975104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🔄 Análisis incremental</a:t>
              </a:r>
              <a:endParaRPr lang="en-US" sz="8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7004304" y="2157984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Reanálisis ilimitado · mejora con cada iteración</a:t>
              </a:r>
              <a:endParaRPr lang="en-US" sz="7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5029200" y="2432304"/>
              <a:ext cx="1755648" cy="438912"/>
            </a:xfrm>
            <a:prstGeom prst="roundRect">
              <a:avLst>
                <a:gd name="adj" fmla="val 20833"/>
              </a:avLst>
            </a:prstGeom>
            <a:solidFill>
              <a:srgbClr val="FFF3E0"/>
            </a:solidFill>
            <a:ln w="12700">
              <a:solidFill>
                <a:srgbClr val="FFF3E0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0" name="Text 58"/>
            <p:cNvSpPr/>
            <p:nvPr/>
          </p:nvSpPr>
          <p:spPr>
            <a:xfrm>
              <a:off x="5120640" y="2468880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🎯 Feedback del arquitecto</a:t>
              </a:r>
              <a:endParaRPr lang="en-US" sz="8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5120640" y="2651760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Incorpora</a:t>
              </a: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70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criterios</a:t>
              </a: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en revisiones futuras</a:t>
              </a:r>
              <a:endParaRPr lang="en-US" sz="7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6912864" y="2432304"/>
              <a:ext cx="1755648" cy="438912"/>
            </a:xfrm>
            <a:prstGeom prst="roundRect">
              <a:avLst>
                <a:gd name="adj" fmla="val 20833"/>
              </a:avLst>
            </a:prstGeom>
            <a:solidFill>
              <a:srgbClr val="F3E5F5"/>
            </a:solidFill>
            <a:ln w="12700">
              <a:solidFill>
                <a:srgbClr val="F3E5F5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Text 61"/>
            <p:cNvSpPr/>
            <p:nvPr/>
          </p:nvSpPr>
          <p:spPr>
            <a:xfrm>
              <a:off x="7004304" y="2468880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</a:t>
              </a:r>
              <a:r>
                <a:rPr lang="en-US" sz="800" b="1" dirty="0" err="1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Aprendizaje</a:t>
              </a:r>
              <a:r>
                <a:rPr lang="en-US" sz="8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800" b="1" dirty="0" err="1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contínuo</a:t>
              </a:r>
              <a:endParaRPr lang="en-US" sz="8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7004304" y="2651760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Para </a:t>
              </a:r>
              <a:r>
                <a:rPr lang="en-US" sz="700" dirty="0" err="1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comunas</a:t>
              </a: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 (</a:t>
              </a:r>
              <a:r>
                <a:rPr lang="en-US" sz="700" dirty="0" err="1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distintas</a:t>
              </a: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 </a:t>
              </a:r>
              <a:r>
                <a:rPr lang="en-US" sz="700" dirty="0" err="1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interpretaciones</a:t>
              </a: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 </a:t>
              </a:r>
              <a:r>
                <a:rPr lang="en-US" sz="700" dirty="0" err="1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normativas</a:t>
              </a: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 </a:t>
              </a:r>
              <a:r>
                <a:rPr lang="en-US" sz="700" dirty="0" err="1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nacionales</a:t>
              </a: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cs typeface="Arial" pitchFamily="34" charset="-120"/>
                </a:rPr>
                <a:t>)</a:t>
              </a:r>
              <a:endParaRPr lang="en-US" sz="7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5029200" y="2926080"/>
              <a:ext cx="1755648" cy="438912"/>
            </a:xfrm>
            <a:prstGeom prst="roundRect">
              <a:avLst>
                <a:gd name="adj" fmla="val 20833"/>
              </a:avLst>
            </a:prstGeom>
            <a:solidFill>
              <a:srgbClr val="E0F7FA"/>
            </a:solidFill>
            <a:ln w="12700">
              <a:solidFill>
                <a:srgbClr val="E0F7F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6" name="Text 64"/>
            <p:cNvSpPr/>
            <p:nvPr/>
          </p:nvSpPr>
          <p:spPr>
            <a:xfrm>
              <a:off x="5120640" y="2962656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⚡ 7×24 · desde anteproyecto</a:t>
              </a:r>
              <a:endParaRPr lang="en-US" sz="8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5120640" y="3145536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solo antes del ingreso — todo el ciclo de diseño</a:t>
              </a:r>
              <a:endParaRPr lang="en-US" sz="7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6912864" y="2926080"/>
              <a:ext cx="1755648" cy="438912"/>
            </a:xfrm>
            <a:prstGeom prst="roundRect">
              <a:avLst>
                <a:gd name="adj" fmla="val 20833"/>
              </a:avLst>
            </a:prstGeom>
            <a:solidFill>
              <a:srgbClr val="FEF3E2"/>
            </a:solidFill>
            <a:ln w="12700">
              <a:solidFill>
                <a:srgbClr val="FEF3E2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9" name="Text 67"/>
            <p:cNvSpPr/>
            <p:nvPr/>
          </p:nvSpPr>
          <p:spPr>
            <a:xfrm>
              <a:off x="7004304" y="2962656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Dataset 954 </a:t>
              </a:r>
              <a:r>
                <a:rPr lang="en-US" sz="800" b="1" dirty="0" err="1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planos</a:t>
              </a:r>
              <a:r>
                <a:rPr lang="en-US" sz="8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chilenos</a:t>
              </a:r>
              <a:endParaRPr lang="en-US" sz="8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7004304" y="3145536"/>
              <a:ext cx="15910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Localización</a:t>
              </a:r>
              <a:r>
                <a:rPr lang="en-US" sz="7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700" dirty="0" err="1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chilena</a:t>
              </a:r>
              <a:endParaRPr lang="en-US" sz="700" dirty="0"/>
            </a:p>
          </p:txBody>
        </p:sp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93239279-E412-D430-26A2-162844EF16FB}"/>
              </a:ext>
            </a:extLst>
          </p:cNvPr>
          <p:cNvGrpSpPr/>
          <p:nvPr/>
        </p:nvGrpSpPr>
        <p:grpSpPr>
          <a:xfrm>
            <a:off x="365760" y="3947312"/>
            <a:ext cx="8366760" cy="1049287"/>
            <a:chOff x="365760" y="3526398"/>
            <a:chExt cx="8366760" cy="1049287"/>
          </a:xfrm>
        </p:grpSpPr>
        <p:sp>
          <p:nvSpPr>
            <p:cNvPr id="71" name="Text 69"/>
            <p:cNvSpPr/>
            <p:nvPr/>
          </p:nvSpPr>
          <p:spPr>
            <a:xfrm>
              <a:off x="2720340" y="3526398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Roadmap de </a:t>
              </a:r>
              <a:r>
                <a:rPr lang="en-US" sz="1000" b="1" dirty="0" err="1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producto</a:t>
              </a:r>
              <a:r>
                <a:rPr lang="en-US" sz="10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</a:t>
              </a:r>
              <a:r>
                <a:rPr lang="en-US" sz="1000" b="1" dirty="0" err="1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proyecto</a:t>
              </a:r>
              <a:endParaRPr lang="en-US" sz="100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365760" y="3807589"/>
              <a:ext cx="2697480" cy="768096"/>
            </a:xfrm>
            <a:prstGeom prst="roundRect">
              <a:avLst>
                <a:gd name="adj" fmla="val 9524"/>
              </a:avLst>
            </a:prstGeom>
            <a:solidFill>
              <a:srgbClr val="162B4A"/>
            </a:solidFill>
            <a:ln w="12700">
              <a:solidFill>
                <a:srgbClr val="162B4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3" name="Text 71"/>
            <p:cNvSpPr/>
            <p:nvPr/>
          </p:nvSpPr>
          <p:spPr>
            <a:xfrm>
              <a:off x="475488" y="3844165"/>
              <a:ext cx="248716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Completado</a:t>
              </a:r>
              <a:endParaRPr lang="en-US" sz="75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475488" y="4008757"/>
              <a:ext cx="248716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Etapas 1–3</a:t>
              </a:r>
              <a:endParaRPr lang="en-US" sz="9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475488" y="4164205"/>
              <a:ext cx="248716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6A7B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Motor normativo OGUC/DDU/PRC</a:t>
              </a:r>
              <a:endParaRPr lang="en-US" sz="700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475488" y="4319653"/>
              <a:ext cx="248716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6A7B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OpenCV · DINO · SAM2 · ~75–80% precisión</a:t>
              </a:r>
              <a:endParaRPr lang="en-US" sz="700" dirty="0"/>
            </a:p>
          </p:txBody>
        </p:sp>
        <p:sp>
          <p:nvSpPr>
            <p:cNvPr id="77" name="Text 75"/>
            <p:cNvSpPr/>
            <p:nvPr/>
          </p:nvSpPr>
          <p:spPr>
            <a:xfrm>
              <a:off x="3081528" y="4063621"/>
              <a:ext cx="10972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13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3200400" y="3807589"/>
              <a:ext cx="2697480" cy="768096"/>
            </a:xfrm>
            <a:prstGeom prst="roundRect">
              <a:avLst>
                <a:gd name="adj" fmla="val 9524"/>
              </a:avLst>
            </a:prstGeom>
            <a:solidFill>
              <a:srgbClr val="00879A"/>
            </a:solidFill>
            <a:ln w="12700">
              <a:solidFill>
                <a:srgbClr val="00879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9" name="Text 77"/>
            <p:cNvSpPr/>
            <p:nvPr/>
          </p:nvSpPr>
          <p:spPr>
            <a:xfrm>
              <a:off x="3310128" y="3844165"/>
              <a:ext cx="248716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 Ignite (próximos 4 meses)</a:t>
              </a:r>
              <a:endParaRPr lang="en-US" sz="750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3310128" y="4008757"/>
              <a:ext cx="248716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Etapa 3b + 4</a:t>
              </a:r>
              <a:endParaRPr lang="en-US" sz="9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3310128" y="4164205"/>
              <a:ext cx="248716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U-Net + MLSTRUCT-FP · IoU ≥ 0.90 · ≥90% precisión</a:t>
              </a:r>
              <a:endParaRPr lang="en-US" sz="70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3310128" y="4319653"/>
              <a:ext cx="248716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Validación arquitectos · 10 comunas RM · multi-doc (en curso)</a:t>
              </a:r>
              <a:endParaRPr lang="en-US" sz="700" dirty="0"/>
            </a:p>
          </p:txBody>
        </p:sp>
        <p:sp>
          <p:nvSpPr>
            <p:cNvPr id="83" name="Text 81"/>
            <p:cNvSpPr/>
            <p:nvPr/>
          </p:nvSpPr>
          <p:spPr>
            <a:xfrm>
              <a:off x="5916168" y="4063621"/>
              <a:ext cx="10972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13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6035040" y="3807589"/>
              <a:ext cx="2697480" cy="768096"/>
            </a:xfrm>
            <a:prstGeom prst="roundRect">
              <a:avLst>
                <a:gd name="adj" fmla="val 9524"/>
              </a:avLst>
            </a:prstGeom>
            <a:solidFill>
              <a:srgbClr val="E8901A"/>
            </a:solidFill>
            <a:ln w="12700">
              <a:solidFill>
                <a:srgbClr val="E8901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5" name="Text 83"/>
            <p:cNvSpPr/>
            <p:nvPr/>
          </p:nvSpPr>
          <p:spPr>
            <a:xfrm>
              <a:off x="6144768" y="3844165"/>
              <a:ext cx="248716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▶ Post-Ignite</a:t>
              </a:r>
              <a:endParaRPr lang="en-US" sz="75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6144768" y="4008757"/>
              <a:ext cx="248716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Escala</a:t>
              </a:r>
              <a:endParaRPr lang="en-US" sz="900" dirty="0"/>
            </a:p>
          </p:txBody>
        </p:sp>
        <p:sp>
          <p:nvSpPr>
            <p:cNvPr id="87" name="Text 85"/>
            <p:cNvSpPr/>
            <p:nvPr/>
          </p:nvSpPr>
          <p:spPr>
            <a:xfrm>
              <a:off x="6144768" y="4164205"/>
              <a:ext cx="248716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Más comunas · revisores privados · CChC canal</a:t>
              </a:r>
              <a:endParaRPr lang="en-US" sz="70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6144768" y="4319653"/>
              <a:ext cx="248716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Municipios B2G · Latam</a:t>
              </a:r>
              <a:endParaRPr lang="en-US" sz="700" dirty="0"/>
            </a:p>
          </p:txBody>
        </p:sp>
      </p:grp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EA4BE1EE-A2D2-0F6F-1CBB-41657C6D46EE}"/>
              </a:ext>
            </a:extLst>
          </p:cNvPr>
          <p:cNvGrpSpPr/>
          <p:nvPr/>
        </p:nvGrpSpPr>
        <p:grpSpPr>
          <a:xfrm>
            <a:off x="4343429" y="271672"/>
            <a:ext cx="4654471" cy="3242349"/>
            <a:chOff x="4343429" y="271672"/>
            <a:chExt cx="4654471" cy="3242349"/>
          </a:xfrm>
        </p:grpSpPr>
        <p:graphicFrame>
          <p:nvGraphicFramePr>
            <p:cNvPr id="106" name="Gráfico 105">
              <a:extLst>
                <a:ext uri="{FF2B5EF4-FFF2-40B4-BE49-F238E27FC236}">
                  <a16:creationId xmlns:a16="http://schemas.microsoft.com/office/drawing/2014/main" id="{00000000-0008-0000-0000-000003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08106071"/>
                </p:ext>
              </p:extLst>
            </p:nvPr>
          </p:nvGraphicFramePr>
          <p:xfrm>
            <a:off x="4343429" y="716145"/>
            <a:ext cx="4568400" cy="24778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105" name="Grupo 104">
              <a:extLst>
                <a:ext uri="{FF2B5EF4-FFF2-40B4-BE49-F238E27FC236}">
                  <a16:creationId xmlns:a16="http://schemas.microsoft.com/office/drawing/2014/main" id="{AAD91626-36AE-A18E-06C6-05F40CF23B9F}"/>
                </a:ext>
              </a:extLst>
            </p:cNvPr>
            <p:cNvGrpSpPr/>
            <p:nvPr/>
          </p:nvGrpSpPr>
          <p:grpSpPr>
            <a:xfrm>
              <a:off x="4655794" y="271672"/>
              <a:ext cx="4342106" cy="3242349"/>
              <a:chOff x="4712498" y="109554"/>
              <a:chExt cx="4342106" cy="3566584"/>
            </a:xfrm>
          </p:grpSpPr>
          <p:sp>
            <p:nvSpPr>
              <p:cNvPr id="102" name="Text 1">
                <a:extLst>
                  <a:ext uri="{FF2B5EF4-FFF2-40B4-BE49-F238E27FC236}">
                    <a16:creationId xmlns:a16="http://schemas.microsoft.com/office/drawing/2014/main" id="{7C4E3270-D4DA-04CB-961D-EB654C296145}"/>
                  </a:ext>
                </a:extLst>
              </p:cNvPr>
              <p:cNvSpPr/>
              <p:nvPr/>
            </p:nvSpPr>
            <p:spPr>
              <a:xfrm>
                <a:off x="4863884" y="109554"/>
                <a:ext cx="3742384" cy="4023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i="1" dirty="0">
                    <a:solidFill>
                      <a:srgbClr val="8A9BB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Mismo proyecto analizado por ArchiCheck y Revi, </a:t>
                </a:r>
                <a:r>
                  <a:rPr lang="en-US" sz="1100" i="1" dirty="0" err="1">
                    <a:solidFill>
                      <a:srgbClr val="8A9BB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competidor</a:t>
                </a:r>
                <a:r>
                  <a:rPr lang="en-US" sz="1100" i="1" dirty="0">
                    <a:solidFill>
                      <a:srgbClr val="8A9BB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100" i="1" dirty="0" err="1">
                    <a:solidFill>
                      <a:srgbClr val="8A9BB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directo</a:t>
                </a:r>
                <a:r>
                  <a:rPr lang="en-US" sz="1100" i="1" dirty="0">
                    <a:solidFill>
                      <a:srgbClr val="8A9BB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100" dirty="0"/>
              </a:p>
            </p:txBody>
          </p:sp>
          <p:sp>
            <p:nvSpPr>
              <p:cNvPr id="103" name="Text 66">
                <a:extLst>
                  <a:ext uri="{FF2B5EF4-FFF2-40B4-BE49-F238E27FC236}">
                    <a16:creationId xmlns:a16="http://schemas.microsoft.com/office/drawing/2014/main" id="{F7071D64-9750-812C-AE71-47DEBF827F27}"/>
                  </a:ext>
                </a:extLst>
              </p:cNvPr>
              <p:cNvSpPr/>
              <p:nvPr/>
            </p:nvSpPr>
            <p:spPr>
              <a:xfrm>
                <a:off x="5131828" y="3383530"/>
                <a:ext cx="3922776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i="1" dirty="0">
                    <a:solidFill>
                      <a:srgbClr val="8A9BB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En análisis del plano: 40 hallazgos vs 7 de Revi sobre el mismo proyecto piloto.</a:t>
                </a:r>
                <a:endParaRPr lang="en-US" sz="800" dirty="0"/>
              </a:p>
            </p:txBody>
          </p:sp>
          <p:sp>
            <p:nvSpPr>
              <p:cNvPr id="95" name="Flecha: a la derecha 94">
                <a:extLst>
                  <a:ext uri="{FF2B5EF4-FFF2-40B4-BE49-F238E27FC236}">
                    <a16:creationId xmlns:a16="http://schemas.microsoft.com/office/drawing/2014/main" id="{54E03F5D-F4D5-6864-FB45-14439F623930}"/>
                  </a:ext>
                </a:extLst>
              </p:cNvPr>
              <p:cNvSpPr/>
              <p:nvPr/>
            </p:nvSpPr>
            <p:spPr>
              <a:xfrm rot="17697446">
                <a:off x="4634921" y="1675657"/>
                <a:ext cx="352105" cy="19695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08273" y="713232"/>
            <a:ext cx="2677546" cy="292608"/>
          </a:xfrm>
          <a:prstGeom prst="roundRect">
            <a:avLst>
              <a:gd name="adj" fmla="val 18750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08273" y="713232"/>
            <a:ext cx="2677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objetivo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8273" y="1024128"/>
            <a:ext cx="2677546" cy="1536192"/>
          </a:xfrm>
          <a:prstGeom prst="roundRect">
            <a:avLst>
              <a:gd name="adj" fmla="val 3571"/>
            </a:avLst>
          </a:prstGeom>
          <a:solidFill>
            <a:srgbClr val="EAF7F9"/>
          </a:solidFill>
          <a:ln w="12700">
            <a:solidFill>
              <a:srgbClr val="EAF7F9"/>
            </a:solidFill>
            <a:prstDash val="solid"/>
          </a:ln>
        </p:spPr>
        <p:txBody>
          <a:bodyPr/>
          <a:lstStyle/>
          <a:p>
            <a:endParaRPr lang="es-CL" sz="950"/>
          </a:p>
        </p:txBody>
      </p:sp>
      <p:sp>
        <p:nvSpPr>
          <p:cNvPr id="12" name="Text 10"/>
          <p:cNvSpPr/>
          <p:nvPr/>
        </p:nvSpPr>
        <p:spPr>
          <a:xfrm>
            <a:off x="463501" y="1078992"/>
            <a:ext cx="270432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adopters: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pequeños-medianos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3501" y="1362456"/>
            <a:ext cx="270432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Etapa 2: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grandes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volumen recurrente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790" y="1734872"/>
            <a:ext cx="245847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Revisores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501" y="1989826"/>
            <a:ext cx="270432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CChC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planos para Revi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78888" y="713232"/>
            <a:ext cx="2677546" cy="292608"/>
          </a:xfrm>
          <a:prstGeom prst="roundRect">
            <a:avLst>
              <a:gd name="adj" fmla="val 18750"/>
            </a:avLst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178888" y="713232"/>
            <a:ext cx="2677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de distribución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78888" y="1024128"/>
            <a:ext cx="2677546" cy="1536192"/>
          </a:xfrm>
          <a:prstGeom prst="roundRect">
            <a:avLst>
              <a:gd name="adj" fmla="val 3571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  <p:txBody>
          <a:bodyPr/>
          <a:lstStyle/>
          <a:p>
            <a:endParaRPr lang="es-CL" sz="950"/>
          </a:p>
        </p:txBody>
      </p:sp>
      <p:sp>
        <p:nvSpPr>
          <p:cNvPr id="20" name="Text 18"/>
          <p:cNvSpPr/>
          <p:nvPr/>
        </p:nvSpPr>
        <p:spPr>
          <a:xfrm>
            <a:off x="3297568" y="1078992"/>
            <a:ext cx="2458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AOA + Colegio de Arquitectos (canal institucional directo)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7568" y="1479209"/>
            <a:ext cx="2458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Referidos entre estudios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7568" y="2029968"/>
            <a:ext cx="2458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 Construcción · ferias de industria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57290" y="713232"/>
            <a:ext cx="2677546" cy="292608"/>
          </a:xfrm>
          <a:prstGeom prst="roundRect">
            <a:avLst>
              <a:gd name="adj" fmla="val 18750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957290" y="713232"/>
            <a:ext cx="2677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57290" y="1024128"/>
            <a:ext cx="2677546" cy="1536192"/>
          </a:xfrm>
          <a:prstGeom prst="roundRect">
            <a:avLst>
              <a:gd name="adj" fmla="val 3571"/>
            </a:avLst>
          </a:prstGeom>
          <a:solidFill>
            <a:srgbClr val="FEF9EF"/>
          </a:solidFill>
          <a:ln w="12700">
            <a:solidFill>
              <a:srgbClr val="FEF9EF"/>
            </a:solidFill>
            <a:prstDash val="solid"/>
          </a:ln>
        </p:spPr>
        <p:txBody>
          <a:bodyPr/>
          <a:lstStyle/>
          <a:p>
            <a:endParaRPr lang="es-CL" sz="950"/>
          </a:p>
        </p:txBody>
      </p:sp>
      <p:sp>
        <p:nvSpPr>
          <p:cNvPr id="26" name="Text 24"/>
          <p:cNvSpPr/>
          <p:nvPr/>
        </p:nvSpPr>
        <p:spPr>
          <a:xfrm>
            <a:off x="6135958" y="1398659"/>
            <a:ext cx="270432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Fijo por proyecto: USD 50–100/expediente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35958" y="1682123"/>
            <a:ext cx="270432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Suscripción mensual: USD 500/mes ilimitado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35958" y="1965587"/>
            <a:ext cx="270432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% del valor del Proyecto de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3501" y="2278940"/>
            <a:ext cx="270432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B2G (Etapa 2): Municipios · FNDR/FIC-R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35040" y="1075535"/>
            <a:ext cx="245847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primeros clientes</a:t>
            </a:r>
            <a:endParaRPr lang="en-US" sz="950" dirty="0"/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90B5F87D-B46A-141B-5448-084B5EA49501}"/>
              </a:ext>
            </a:extLst>
          </p:cNvPr>
          <p:cNvGrpSpPr/>
          <p:nvPr/>
        </p:nvGrpSpPr>
        <p:grpSpPr>
          <a:xfrm>
            <a:off x="365760" y="2724912"/>
            <a:ext cx="8321040" cy="1288809"/>
            <a:chOff x="365760" y="2724912"/>
            <a:chExt cx="8321040" cy="1288809"/>
          </a:xfrm>
        </p:grpSpPr>
        <p:sp>
          <p:nvSpPr>
            <p:cNvPr id="31" name="Text 29"/>
            <p:cNvSpPr/>
            <p:nvPr/>
          </p:nvSpPr>
          <p:spPr>
            <a:xfrm>
              <a:off x="365760" y="2724912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Mercado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65760" y="3017520"/>
              <a:ext cx="1572768" cy="841248"/>
            </a:xfrm>
            <a:prstGeom prst="roundRect">
              <a:avLst>
                <a:gd name="adj" fmla="val 10870"/>
              </a:avLst>
            </a:prstGeom>
            <a:solidFill>
              <a:srgbClr val="EBF0FF"/>
            </a:solidFill>
            <a:ln w="12700">
              <a:solidFill>
                <a:srgbClr val="EBF0FF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 31"/>
            <p:cNvSpPr/>
            <p:nvPr/>
          </p:nvSpPr>
          <p:spPr>
            <a:xfrm>
              <a:off x="457200" y="3054096"/>
              <a:ext cx="138988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TAM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57200" y="3255264"/>
              <a:ext cx="138988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USD 6,0M</a:t>
              </a:r>
              <a:endParaRPr lang="en-US" sz="17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57200" y="3566160"/>
              <a:ext cx="138988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60.000 expedientes × USD 100</a:t>
              </a:r>
              <a:endParaRPr lang="en-US" sz="7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2084832" y="3017520"/>
              <a:ext cx="1572768" cy="841248"/>
            </a:xfrm>
            <a:prstGeom prst="roundRect">
              <a:avLst>
                <a:gd name="adj" fmla="val 10870"/>
              </a:avLst>
            </a:prstGeom>
            <a:solidFill>
              <a:srgbClr val="E3F2FD"/>
            </a:solidFill>
            <a:ln w="12700">
              <a:solidFill>
                <a:srgbClr val="E3F2FD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 35"/>
            <p:cNvSpPr/>
            <p:nvPr/>
          </p:nvSpPr>
          <p:spPr>
            <a:xfrm>
              <a:off x="2176272" y="3054096"/>
              <a:ext cx="138988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SAM</a:t>
              </a:r>
              <a:endParaRPr lang="en-US" sz="9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2176272" y="3255264"/>
              <a:ext cx="138988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USD 3,8M</a:t>
              </a:r>
              <a:endParaRPr lang="en-US" sz="17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2176272" y="3566160"/>
              <a:ext cx="138988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38.400 expedientes (−obras menores, −resto RM)</a:t>
              </a:r>
              <a:endParaRPr lang="en-US" sz="7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803904" y="3017520"/>
              <a:ext cx="1572768" cy="841248"/>
            </a:xfrm>
            <a:prstGeom prst="roundRect">
              <a:avLst>
                <a:gd name="adj" fmla="val 10870"/>
              </a:avLst>
            </a:prstGeom>
            <a:solidFill>
              <a:srgbClr val="F3E5F5"/>
            </a:solidFill>
            <a:ln w="12700">
              <a:solidFill>
                <a:srgbClr val="F3E5F5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 39"/>
            <p:cNvSpPr/>
            <p:nvPr/>
          </p:nvSpPr>
          <p:spPr>
            <a:xfrm>
              <a:off x="3895344" y="3054096"/>
              <a:ext cx="138988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SOM</a:t>
              </a:r>
              <a:endParaRPr lang="en-US" sz="9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3895344" y="3255264"/>
              <a:ext cx="138988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USD 600K</a:t>
              </a:r>
              <a:endParaRPr lang="en-US" sz="17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3895344" y="3566160"/>
              <a:ext cx="138988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6.000 expedientes · 3 años</a:t>
              </a:r>
              <a:endParaRPr lang="en-US" sz="7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559552" y="2724912"/>
              <a:ext cx="31272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Unit economics</a:t>
              </a:r>
              <a:endParaRPr lang="en-US" sz="10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559552" y="3017520"/>
              <a:ext cx="3127248" cy="996201"/>
            </a:xfrm>
            <a:prstGeom prst="roundRect">
              <a:avLst>
                <a:gd name="adj" fmla="val 7813"/>
              </a:avLst>
            </a:prstGeom>
            <a:solidFill>
              <a:srgbClr val="F2F5F8"/>
            </a:solidFill>
            <a:ln w="12700">
              <a:solidFill>
                <a:srgbClr val="F2F5F8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Text 44"/>
            <p:cNvSpPr/>
            <p:nvPr/>
          </p:nvSpPr>
          <p:spPr>
            <a:xfrm>
              <a:off x="5650992" y="3090672"/>
              <a:ext cx="1463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LTV</a:t>
              </a:r>
              <a:endParaRPr lang="en-US" sz="9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7114032" y="3090672"/>
              <a:ext cx="1481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USD 7.000/estudio</a:t>
              </a:r>
              <a:endParaRPr lang="en-US" sz="9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5650992" y="3308286"/>
              <a:ext cx="1463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CAC (hipótesis)</a:t>
              </a:r>
              <a:endParaRPr lang="en-US" sz="9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7114032" y="3308286"/>
              <a:ext cx="1481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USD 300/estudio</a:t>
              </a:r>
              <a:endParaRPr lang="en-US" sz="9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5650992" y="3525899"/>
              <a:ext cx="1463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LTV / CAC</a:t>
              </a:r>
              <a:endParaRPr lang="en-US" sz="9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7114032" y="3525899"/>
              <a:ext cx="1481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23×</a:t>
              </a:r>
              <a:endParaRPr lang="en-US" sz="9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5650992" y="3757689"/>
              <a:ext cx="1463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A9B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MRR mes 12</a:t>
              </a:r>
              <a:endParaRPr lang="en-US" sz="9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7114032" y="3757689"/>
              <a:ext cx="1481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USD 15.750</a:t>
              </a:r>
              <a:endParaRPr lang="en-US" sz="900" dirty="0"/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820F5632-FA6D-8480-E3C6-97ED396259A4}"/>
              </a:ext>
            </a:extLst>
          </p:cNvPr>
          <p:cNvGrpSpPr/>
          <p:nvPr/>
        </p:nvGrpSpPr>
        <p:grpSpPr>
          <a:xfrm>
            <a:off x="365760" y="3986784"/>
            <a:ext cx="8321040" cy="1005840"/>
            <a:chOff x="365760" y="3986784"/>
            <a:chExt cx="8321040" cy="1005840"/>
          </a:xfrm>
        </p:grpSpPr>
        <p:sp>
          <p:nvSpPr>
            <p:cNvPr id="54" name="Text 52"/>
            <p:cNvSpPr/>
            <p:nvPr/>
          </p:nvSpPr>
          <p:spPr>
            <a:xfrm>
              <a:off x="365760" y="3986784"/>
              <a:ext cx="5029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Go-to-market</a:t>
              </a:r>
              <a:endParaRPr lang="en-US" sz="10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365760" y="4279392"/>
              <a:ext cx="2651760" cy="713232"/>
            </a:xfrm>
            <a:prstGeom prst="roundRect">
              <a:avLst>
                <a:gd name="adj" fmla="val 10256"/>
              </a:avLst>
            </a:prstGeom>
            <a:solidFill>
              <a:srgbClr val="0D1F3C"/>
            </a:solidFill>
            <a:ln w="12700">
              <a:solidFill>
                <a:srgbClr val="0D1F3C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Text 54"/>
            <p:cNvSpPr/>
            <p:nvPr/>
          </p:nvSpPr>
          <p:spPr>
            <a:xfrm>
              <a:off x="475488" y="4315968"/>
              <a:ext cx="6583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Año 1</a:t>
              </a:r>
              <a:endParaRPr lang="en-US" sz="11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475488" y="4553712"/>
              <a:ext cx="24505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 estudios · Canal AOA y Colegio · 20 comunas</a:t>
              </a:r>
              <a:endParaRPr lang="en-US" sz="8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3200400" y="4279392"/>
              <a:ext cx="2651760" cy="713232"/>
            </a:xfrm>
            <a:prstGeom prst="roundRect">
              <a:avLst>
                <a:gd name="adj" fmla="val 10256"/>
              </a:avLst>
            </a:prstGeom>
            <a:solidFill>
              <a:srgbClr val="00879A"/>
            </a:solidFill>
            <a:ln w="12700">
              <a:solidFill>
                <a:srgbClr val="00879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Text 57"/>
            <p:cNvSpPr/>
            <p:nvPr/>
          </p:nvSpPr>
          <p:spPr>
            <a:xfrm>
              <a:off x="3310128" y="4315968"/>
              <a:ext cx="6583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Año 2</a:t>
              </a:r>
              <a:endParaRPr lang="en-US" sz="11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3310128" y="4553712"/>
              <a:ext cx="24505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 estudios · FIC-R/FNDR · inicio Latam</a:t>
              </a:r>
              <a:endParaRPr lang="en-US" sz="8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6035040" y="4279392"/>
              <a:ext cx="2651760" cy="713232"/>
            </a:xfrm>
            <a:prstGeom prst="roundRect">
              <a:avLst>
                <a:gd name="adj" fmla="val 10256"/>
              </a:avLst>
            </a:prstGeom>
            <a:solidFill>
              <a:srgbClr val="E8901A"/>
            </a:solidFill>
            <a:ln w="12700">
              <a:solidFill>
                <a:srgbClr val="E8901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2" name="Text 60"/>
            <p:cNvSpPr/>
            <p:nvPr/>
          </p:nvSpPr>
          <p:spPr>
            <a:xfrm>
              <a:off x="6144768" y="4315968"/>
              <a:ext cx="6583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Año 3</a:t>
              </a:r>
              <a:endParaRPr lang="en-US" sz="11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6144768" y="4553712"/>
              <a:ext cx="24505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Expansión Latam · Perú, Colombia, Argentina</a:t>
              </a:r>
              <a:endParaRPr lang="en-US" sz="8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3295857" y="1755612"/>
            <a:ext cx="245847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Constructoras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 con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arquitectos</a:t>
            </a:r>
            <a:r>
              <a:rPr lang="en-US" sz="95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internos</a:t>
            </a:r>
            <a:endParaRPr lang="en-US" sz="950" dirty="0">
              <a:solidFill>
                <a:srgbClr val="374151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· Plan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79202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10291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93776" y="115778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Estragues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" y="139552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Team Leader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" y="159669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Civil Industrial + Magíster Marketing (U. de Chile) · 23 años en desarrollo de producto, fintech, commercial, </a:t>
            </a:r>
            <a:r>
              <a:rPr lang="en-US" sz="800" dirty="0" err="1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</a:t>
            </a: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800" dirty="0" err="1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</a:t>
            </a: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Latam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110291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328416" y="115778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Wrbka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8416" y="139552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Expert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8416" y="159669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Arquitectura UC · 20 años en proyectos de innovación y redes de industria · Acceso AOA + Colegio de Arquitectos</a:t>
            </a:r>
          </a:p>
        </p:txBody>
      </p:sp>
      <p:sp>
        <p:nvSpPr>
          <p:cNvPr id="22" name="Shape 20"/>
          <p:cNvSpPr/>
          <p:nvPr/>
        </p:nvSpPr>
        <p:spPr>
          <a:xfrm>
            <a:off x="6035040" y="110291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163056" y="115778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Allué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139552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63056" y="159669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años preparando expedientes y enfrentando revisiones DOM · Conoce los criterios reales </a:t>
            </a:r>
            <a:r>
              <a:rPr lang="en-US" sz="800" dirty="0" err="1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</a:t>
            </a: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800" dirty="0" err="1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</a:t>
            </a: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Validó el motor </a:t>
            </a:r>
            <a:r>
              <a:rPr lang="en-US" sz="800" dirty="0" err="1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normativo</a:t>
            </a:r>
            <a:endParaRPr lang="en-US" sz="800" dirty="0">
              <a:solidFill>
                <a:srgbClr val="F2F5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49E33311-4DA1-BBFA-48C6-07F00FB10D6A}"/>
              </a:ext>
            </a:extLst>
          </p:cNvPr>
          <p:cNvGrpSpPr/>
          <p:nvPr/>
        </p:nvGrpSpPr>
        <p:grpSpPr>
          <a:xfrm>
            <a:off x="365760" y="2800023"/>
            <a:ext cx="8421624" cy="1687104"/>
            <a:chOff x="365760" y="2800023"/>
            <a:chExt cx="8421624" cy="1687104"/>
          </a:xfrm>
        </p:grpSpPr>
        <p:sp>
          <p:nvSpPr>
            <p:cNvPr id="26" name="Text 24"/>
            <p:cNvSpPr/>
            <p:nvPr/>
          </p:nvSpPr>
          <p:spPr>
            <a:xfrm>
              <a:off x="365760" y="2800023"/>
              <a:ext cx="8412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0087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Qué</a:t>
              </a:r>
              <a:r>
                <a:rPr lang="en-US" sz="1200" b="1" dirty="0">
                  <a:solidFill>
                    <a:srgbClr val="0087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0087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esperamos</a:t>
              </a:r>
              <a:r>
                <a:rPr lang="en-US" sz="1200" b="1" dirty="0">
                  <a:solidFill>
                    <a:srgbClr val="0087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dirty="0" err="1">
                  <a:solidFill>
                    <a:srgbClr val="0087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lograr</a:t>
              </a:r>
              <a:r>
                <a:rPr lang="en-US" sz="1200" b="1" dirty="0">
                  <a:solidFill>
                    <a:srgbClr val="0087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en los 4 meses de Ignite</a:t>
              </a:r>
              <a:endParaRPr lang="en-US" sz="12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65760" y="3152103"/>
              <a:ext cx="1975104" cy="804672"/>
            </a:xfrm>
            <a:prstGeom prst="roundRect">
              <a:avLst>
                <a:gd name="adj" fmla="val 11364"/>
              </a:avLst>
            </a:prstGeom>
            <a:solidFill>
              <a:srgbClr val="00879A"/>
            </a:solidFill>
            <a:ln w="12700">
              <a:solidFill>
                <a:srgbClr val="00879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 26"/>
            <p:cNvSpPr/>
            <p:nvPr/>
          </p:nvSpPr>
          <p:spPr>
            <a:xfrm>
              <a:off x="438912" y="3188679"/>
              <a:ext cx="1828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</a:t>
              </a:r>
              <a:endParaRPr lang="en-US" sz="2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38912" y="3591015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estudios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activos pagando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514600" y="3152103"/>
              <a:ext cx="1975104" cy="804672"/>
            </a:xfrm>
            <a:prstGeom prst="roundRect">
              <a:avLst>
                <a:gd name="adj" fmla="val 11364"/>
              </a:avLst>
            </a:prstGeom>
            <a:solidFill>
              <a:srgbClr val="00879A"/>
            </a:solidFill>
            <a:ln w="12700">
              <a:solidFill>
                <a:srgbClr val="00879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 29"/>
            <p:cNvSpPr/>
            <p:nvPr/>
          </p:nvSpPr>
          <p:spPr>
            <a:xfrm>
              <a:off x="2587752" y="3188679"/>
              <a:ext cx="1828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</a:t>
              </a:r>
              <a:endParaRPr lang="en-US" sz="2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587752" y="3591015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comunas RM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 el motor normativo</a:t>
              </a:r>
              <a:endParaRPr lang="en-US" sz="8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663440" y="3152103"/>
              <a:ext cx="1975104" cy="804672"/>
            </a:xfrm>
            <a:prstGeom prst="roundRect">
              <a:avLst>
                <a:gd name="adj" fmla="val 11364"/>
              </a:avLst>
            </a:prstGeom>
            <a:solidFill>
              <a:srgbClr val="00879A"/>
            </a:solidFill>
            <a:ln w="12700">
              <a:solidFill>
                <a:srgbClr val="00879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 32"/>
            <p:cNvSpPr/>
            <p:nvPr/>
          </p:nvSpPr>
          <p:spPr>
            <a:xfrm>
              <a:off x="4736592" y="3188679"/>
              <a:ext cx="1828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USD 6K</a:t>
              </a:r>
              <a:endParaRPr lang="en-US" sz="22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736592" y="3591015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MRR al cierre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del programa</a:t>
              </a:r>
              <a:endParaRPr lang="en-US" sz="8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812280" y="3152103"/>
              <a:ext cx="1975104" cy="804672"/>
            </a:xfrm>
            <a:prstGeom prst="roundRect">
              <a:avLst>
                <a:gd name="adj" fmla="val 11364"/>
              </a:avLst>
            </a:prstGeom>
            <a:solidFill>
              <a:srgbClr val="00879A"/>
            </a:solidFill>
            <a:ln w="12700">
              <a:solidFill>
                <a:srgbClr val="00879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 35"/>
            <p:cNvSpPr/>
            <p:nvPr/>
          </p:nvSpPr>
          <p:spPr>
            <a:xfrm>
              <a:off x="6885432" y="3188679"/>
              <a:ext cx="1828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≥90%</a:t>
              </a:r>
              <a:endParaRPr lang="en-US" sz="22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885432" y="3591015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precisión validada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 arquitectos reales</a:t>
              </a:r>
              <a:endParaRPr lang="en-US" sz="8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365760" y="4029927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87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Roadmap</a:t>
              </a:r>
              <a:endParaRPr lang="en-US" sz="9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65760" y="4231095"/>
              <a:ext cx="2651760" cy="256032"/>
            </a:xfrm>
            <a:prstGeom prst="roundRect">
              <a:avLst>
                <a:gd name="adj" fmla="val 17857"/>
              </a:avLst>
            </a:prstGeom>
            <a:solidFill>
              <a:srgbClr val="162B4A"/>
            </a:solidFill>
            <a:ln w="12700">
              <a:solidFill>
                <a:srgbClr val="162B4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 39"/>
            <p:cNvSpPr/>
            <p:nvPr/>
          </p:nvSpPr>
          <p:spPr>
            <a:xfrm>
              <a:off x="457200" y="4240239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Hoy: MVP · estudios de arquitectura · OGUC / DDU / PRC</a:t>
              </a:r>
              <a:endParaRPr lang="en-US" sz="75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200400" y="4231095"/>
              <a:ext cx="2651760" cy="256032"/>
            </a:xfrm>
            <a:prstGeom prst="roundRect">
              <a:avLst>
                <a:gd name="adj" fmla="val 17857"/>
              </a:avLst>
            </a:prstGeom>
            <a:solidFill>
              <a:srgbClr val="00879A"/>
            </a:solidFill>
            <a:ln w="12700">
              <a:solidFill>
                <a:srgbClr val="00879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Text 41"/>
            <p:cNvSpPr/>
            <p:nvPr/>
          </p:nvSpPr>
          <p:spPr>
            <a:xfrm>
              <a:off x="3291840" y="4240239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Ignite: PMF · revisores privados · multi-documento</a:t>
              </a:r>
              <a:endParaRPr lang="en-US" sz="7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035040" y="4231095"/>
              <a:ext cx="2651760" cy="256032"/>
            </a:xfrm>
            <a:prstGeom prst="roundRect">
              <a:avLst>
                <a:gd name="adj" fmla="val 17857"/>
              </a:avLst>
            </a:prstGeom>
            <a:solidFill>
              <a:srgbClr val="E8901A"/>
            </a:solidFill>
            <a:ln w="12700">
              <a:solidFill>
                <a:srgbClr val="E8901A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 43"/>
            <p:cNvSpPr/>
            <p:nvPr/>
          </p:nvSpPr>
          <p:spPr>
            <a:xfrm>
              <a:off x="6126480" y="4240239"/>
              <a:ext cx="24871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Escala: CChC / B2B canal · municipios B2G · Latam</a:t>
              </a:r>
              <a:endParaRPr lang="en-US" sz="750" dirty="0"/>
            </a:p>
          </p:txBody>
        </p:sp>
      </p:grpSp>
      <p:sp>
        <p:nvSpPr>
          <p:cNvPr id="47" name="Text 23">
            <a:extLst>
              <a:ext uri="{FF2B5EF4-FFF2-40B4-BE49-F238E27FC236}">
                <a16:creationId xmlns:a16="http://schemas.microsoft.com/office/drawing/2014/main" id="{34240EA9-8E9A-8386-07B7-32B0796B91EC}"/>
              </a:ext>
            </a:extLst>
          </p:cNvPr>
          <p:cNvSpPr/>
          <p:nvPr/>
        </p:nvSpPr>
        <p:spPr>
          <a:xfrm>
            <a:off x="3393344" y="2093956"/>
            <a:ext cx="513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Han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tramitado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permisos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más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de 40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comunas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Chile.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Conocen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distintos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tipos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de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proyectos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normativas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locales y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nacionales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, y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particularidades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de las DOM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cada</a:t>
            </a:r>
            <a:r>
              <a:rPr lang="en-US" sz="900" b="1" dirty="0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900" b="1" dirty="0" err="1">
                <a:solidFill>
                  <a:srgbClr val="00879A"/>
                </a:solidFill>
                <a:latin typeface="Arial" pitchFamily="34" charset="0"/>
                <a:cs typeface="Arial" pitchFamily="34" charset="-120"/>
              </a:rPr>
              <a:t>comuna</a:t>
            </a:r>
            <a:endParaRPr lang="en-US" sz="900" b="1" dirty="0">
              <a:solidFill>
                <a:srgbClr val="00879A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803</Words>
  <Application>Microsoft Office PowerPoint</Application>
  <PresentationFormat>Presentación en pantalla (16:9)</PresentationFormat>
  <Paragraphs>155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Nicolás Estragues Nuñez</cp:lastModifiedBy>
  <cp:revision>9</cp:revision>
  <dcterms:created xsi:type="dcterms:W3CDTF">2026-07-01T23:10:43Z</dcterms:created>
  <dcterms:modified xsi:type="dcterms:W3CDTF">2026-07-02T19:04:58Z</dcterms:modified>
</cp:coreProperties>
</file>