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ARCHICHECK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3500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y la propuesta de valor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tu socio arquitecto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2011680" cy="0"/>
          </a:xfrm>
          <a:prstGeom prst="line">
            <a:avLst/>
          </a:prstGeom>
          <a:noFill/>
          <a:ln w="25400">
            <a:solidFill>
              <a:srgbClr val="D97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7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actualizada con los datos oficiales de la aplicación BIG12 a Start-Up Chile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problema, en su cadena causal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como se declaró oficialmente a Start-Up Chile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D97A2B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2893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oficina no puede cobrar hasta la aprobación DOM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600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puede durar más de 800 días (sin fuente citada en la aplicación — tenla lista). En proyectos más complejos, la espera es aún mayor.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21992"/>
            <a:ext cx="457200" cy="457200"/>
          </a:xfrm>
          <a:prstGeom prst="ellipse">
            <a:avLst/>
          </a:prstGeom>
          <a:solidFill>
            <a:srgbClr val="D97A2B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18541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revisiones explican más del 70% de ese tiempo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4963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la redacción del proyecto: son las revisiones independientes y de la propia DOM, por variabilidad de criterios entre Direcciones de Obra.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18104"/>
            <a:ext cx="457200" cy="457200"/>
          </a:xfrm>
          <a:prstGeom prst="ellipse">
            <a:avLst/>
          </a:prstGeom>
          <a:solidFill>
            <a:srgbClr val="D97A2B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30815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iteración es trabajo no remunerado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3924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observación, corrección o reingreso representa semanas de espera sin poder facturar ese trabajo.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14216"/>
            <a:ext cx="457200" cy="457200"/>
          </a:xfrm>
          <a:prstGeom prst="ellipse">
            <a:avLst/>
          </a:prstGeom>
          <a:solidFill>
            <a:srgbClr val="D97A2B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977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mercado es grande y el patrón se repite en Latam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42885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~3.500 oficinas de arquitectos procesan más de 60.000 expedientes al año en Chile — y el mismo patrón existe regionalmente.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propuesta de valor: revisión automatizada y evolutiva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 de revisiones y comentarios ingresados, actualiza la base de búsqueda y genera nuevas consideraciones formales y normativas no integradas al comienzo.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11480" y="1691640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  <a:effectLst>
            <a:outerShdw sx="100000" sy="100000" kx="0" ky="0" algn="bl" rotWithShape="0" blurRad="88900" dist="25400" dir="5400000">
              <a:srgbClr val="12262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856232"/>
            <a:ext cx="365760" cy="365760"/>
          </a:xfrm>
          <a:prstGeom prst="ellipse">
            <a:avLst/>
          </a:prstGeom>
          <a:solidFill>
            <a:srgbClr val="D97A2B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6072" y="228600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Completitud de los documentos requeridos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691640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  <a:effectLst>
            <a:outerShdw sx="100000" sy="100000" kx="0" ky="0" algn="bl" rotWithShape="0" blurRad="88900" dist="25400" dir="5400000">
              <a:srgbClr val="12262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856232"/>
            <a:ext cx="365760" cy="365760"/>
          </a:xfrm>
          <a:prstGeom prst="ellipse">
            <a:avLst/>
          </a:prstGeom>
          <a:solidFill>
            <a:srgbClr val="D97A2B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56432" y="228600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completa y necesaria en cada documento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  <a:effectLst>
            <a:outerShdw sx="100000" sy="100000" kx="0" ky="0" algn="bl" rotWithShape="0" blurRad="88900" dist="25400" dir="5400000">
              <a:srgbClr val="12262F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36792" y="1856232"/>
            <a:ext cx="365760" cy="365760"/>
          </a:xfrm>
          <a:prstGeom prst="ellipse">
            <a:avLst/>
          </a:prstGeom>
          <a:solidFill>
            <a:srgbClr val="D97A2B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6792" y="228600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Coherencia de la información entre documentos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063240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  <a:effectLst>
            <a:outerShdw sx="100000" sy="100000" kx="0" ky="0" algn="bl" rotWithShape="0" blurRad="88900" dist="25400" dir="5400000">
              <a:srgbClr val="12262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" y="3227832"/>
            <a:ext cx="365760" cy="365760"/>
          </a:xfrm>
          <a:prstGeom prst="ellipse">
            <a:avLst/>
          </a:prstGeom>
          <a:solidFill>
            <a:srgbClr val="D97A2B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" y="365760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 la presentación de la información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3063240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  <a:effectLst>
            <a:outerShdw sx="100000" sy="100000" kx="0" ky="0" algn="bl" rotWithShape="0" blurRad="88900" dist="25400" dir="5400000">
              <a:srgbClr val="12262F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56432" y="3227832"/>
            <a:ext cx="365760" cy="365760"/>
          </a:xfrm>
          <a:prstGeom prst="ellipse">
            <a:avLst/>
          </a:prstGeom>
          <a:solidFill>
            <a:srgbClr val="D97A2B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56432" y="365760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normativo de la información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063240"/>
            <a:ext cx="2651760" cy="1188720"/>
          </a:xfrm>
          <a:prstGeom prst="roundRect">
            <a:avLst>
              <a:gd name="adj" fmla="val 538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  <a:effectLst>
            <a:outerShdw sx="100000" sy="100000" kx="0" ky="0" algn="bl" rotWithShape="0" blurRad="88900" dist="25400" dir="5400000">
              <a:srgbClr val="12262F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36792" y="3227832"/>
            <a:ext cx="365760" cy="365760"/>
          </a:xfrm>
          <a:prstGeom prst="ellipse">
            <a:avLst/>
          </a:prstGeom>
          <a:solidFill>
            <a:srgbClr val="D97A2B"/>
          </a:solidFill>
          <a:ln w="12700">
            <a:solidFill>
              <a:srgbClr val="D97A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36792" y="365760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normativa aplicada en cada revisión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D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es exactamente lo que ya verifica el informe de ArchiCheck hoy — ver el caso del restaurante.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objetivo y alcance inicial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cualitativa — sin cifras de mercado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663440" cy="3291840"/>
          </a:xfrm>
          <a:prstGeom prst="roundRect">
            <a:avLst>
              <a:gd name="adj" fmla="val 2222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OBJETIVO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Inmobiliarias menores · oficinas de arquitectura · constructoras pequeñas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tienen capacidad interna de revisión permanente.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Trabajan en formato lineal: terminan una obra antes de empezar la siguiente — pocos proyectos en paralelo.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D7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eso, cada semana de demora pesa proporcionalmente más en su negocio que en uno con muchos proyectos simultáneos.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49240" y="1371600"/>
            <a:ext cx="3337560" cy="3291840"/>
          </a:xfrm>
          <a:prstGeom prst="roundRect">
            <a:avLst>
              <a:gd name="adj" fmla="val 222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  <a:effectLst>
            <a:outerShdw sx="100000" sy="100000" kx="0" ky="0" algn="bl" rotWithShape="0" blurRad="88900" dist="25400" dir="5400000">
              <a:srgbClr val="12262F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05272" y="1600200"/>
            <a:ext cx="2825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D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INICIAL DE REVISIÓN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05272" y="2240280"/>
            <a:ext cx="28254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Permisos de ampliación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Permisos de obra menor (&lt; 100 m²)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Permisos de obra nueva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mercado servible (SAM) declarado a Start-Up Chile excluye “obras menores” — confirma cómo se reconcilia con este alcance.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lógica que tiene que sostenerse en la llamada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→ producto → cliente, sin quiebres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74520" cy="1554480"/>
          </a:xfrm>
          <a:prstGeom prst="roundRect">
            <a:avLst>
              <a:gd name="adj" fmla="val 4118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88900" dist="25400" dir="5400000">
              <a:srgbClr val="12262F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9659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Revisiones DOM e independientes explican +70% de los 800+ días de tramitación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50008" y="2459736"/>
            <a:ext cx="283464" cy="292608"/>
          </a:xfrm>
          <a:prstGeom prst="chevron">
            <a:avLst/>
          </a:prstGeom>
          <a:solidFill>
            <a:srgbClr val="D7E4EA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1828800"/>
            <a:ext cx="1874520" cy="1554480"/>
          </a:xfrm>
          <a:prstGeom prst="roundRect">
            <a:avLst>
              <a:gd name="adj" fmla="val 411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  <a:effectLst>
            <a:outerShdw sx="100000" sy="100000" kx="0" ky="0" algn="bl" rotWithShape="0" blurRad="88900" dist="25400" dir="5400000">
              <a:srgbClr val="12262F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9659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ArchiCheck verifica completitud, coherencia y cumplimiento normativo antes de presentar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44568" y="2459736"/>
            <a:ext cx="283464" cy="292608"/>
          </a:xfrm>
          <a:prstGeom prst="chevron">
            <a:avLst/>
          </a:prstGeom>
          <a:solidFill>
            <a:srgbClr val="D7E4EA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828800"/>
            <a:ext cx="1874520" cy="1554480"/>
          </a:xfrm>
          <a:prstGeom prst="roundRect">
            <a:avLst>
              <a:gd name="adj" fmla="val 4118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  <a:effectLst>
            <a:outerShdw sx="100000" sy="100000" kx="0" ky="0" algn="bl" rotWithShape="0" blurRad="88900" dist="25400" dir="5400000">
              <a:srgbClr val="12262F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9659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más se beneficia es quien no puede revisar internamente y no tiene margen para esperar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39128" y="2459736"/>
            <a:ext cx="283464" cy="292608"/>
          </a:xfrm>
          <a:prstGeom prst="chevron">
            <a:avLst/>
          </a:prstGeom>
          <a:solidFill>
            <a:srgbClr val="D7E4EA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1828800"/>
            <a:ext cx="1874520" cy="1554480"/>
          </a:xfrm>
          <a:prstGeom prst="roundRect">
            <a:avLst>
              <a:gd name="adj" fmla="val 411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  <a:effectLst>
            <a:outerShdw sx="100000" sy="100000" kx="0" ky="0" algn="bl" rotWithShape="0" blurRad="88900" dist="25400" dir="5400000">
              <a:srgbClr val="12262F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78040" y="196596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Inmobiliarias menores, oficinas chicas y constructoras pequeñas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conversación se desordena, esta es la columna vertebral a la que conviene volver.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Problema y propuesta de valor — Validación con socio arquitecto</dc:title>
  <dc:subject>PptxGenJS Presentation</dc:subject>
  <dc:creator>ArchiCheck</dc:creator>
  <cp:lastModifiedBy>ArchiCheck</cp:lastModifiedBy>
  <cp:revision>1</cp:revision>
  <dcterms:created xsi:type="dcterms:W3CDTF">2026-06-24T23:36:17Z</dcterms:created>
  <dcterms:modified xsi:type="dcterms:W3CDTF">2026-06-24T23:36:17Z</dcterms:modified>
</cp:coreProperties>
</file>