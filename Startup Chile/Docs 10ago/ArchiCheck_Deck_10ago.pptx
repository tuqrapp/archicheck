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letter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A6D09-105E-BBCE-DF29-31B6F592D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CC551C-0EA6-59D7-ECC0-0C40A9EC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EE0B78-B3AD-80A4-D714-C098DE52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40ADAE-1EA7-2E14-7415-A0C15E24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B0A97C-06ED-2709-530A-CD73C0A1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982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AFEE-3014-215A-7E23-84106ED1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4D872F-72E8-37BD-44C5-382DE364B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309A5-DCD9-55F7-D2BE-F55780D4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BB8A8C-1641-26D7-A1ED-4B833333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7FC1-E782-DCA5-F6A9-1CD41107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160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7AE3D-E065-C019-5DE5-421F1CBD6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F2E860-D3BC-0546-1FA6-47A4C969D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40C995-D475-C69E-3C3D-D9EEE4F8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EFE807-D984-3B32-DDA4-BF00FB9B2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FC71F9-E65B-A42A-8286-F652CB65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653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F8E1C-3367-5AFA-5AD4-ACC59F3F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B2A1E1-B74E-D2F9-32E3-0DD74B220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D2E47-F1BF-82F7-2B98-06F821EA1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182654-124A-CFF5-69CB-319EE0D8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243BDE-3643-6E43-2DFC-39420ADA4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74B90F-1471-E905-C209-09F3BA29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188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EC884-4DB1-FBD3-5AF4-B213F2C6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8A4E98-9592-B841-E06A-77EB47B1D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C17C50-0C53-33BC-2C59-A6A69CD5F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DC2B76-9E91-AAD6-88CE-F10E903E4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3DF20A-BDEA-8B42-9871-0C776C086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64CAB9-B3FD-3318-CEF0-FC5DB016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19979B9-DD68-67C0-53E9-6D39F520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DC7D0C-980E-833F-9969-38B14F496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68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E612A-9B42-59EE-24BB-47D8F04C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131A3A-1FFF-CA53-C704-7907DAE8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1E5E13-5700-FA4B-A1F4-496451F3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2169A-0304-0003-05DB-37E01AAC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470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FB846B-C93F-8E78-461F-DC9FAFB9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AEED16-9C6B-D46B-ED7B-FC237B01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EFB95B-C958-133D-A964-D689ED0B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759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0E672-A6C0-E03E-39C9-536D83073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22DF1A-2EB4-4227-C854-B181CB94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6402E-4447-129F-41DC-41AA4D4F6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1C4D5C-73EF-21C5-4224-63AA55FB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8B81E9-8C93-4B20-C6E7-52718862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9FB341-5592-D39B-A0BB-3FCCEFDB4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341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9D3AF-5F27-C1D9-227E-E205F6FEB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EF3DB5B-DA4C-978D-744E-17478CC85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4D7241-20EB-FD80-C0E0-9E64D9413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207DB0-0A92-8496-6DDD-0C68D3093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CFA30E-E143-2D4A-BA92-AD9ADC53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A49EFE-F050-DF47-09CD-14D38C95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471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2D9CD-8FD8-D8C6-735E-A2B12534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DB084F-1F23-7404-D7CF-67930133F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5262C-5E5B-A985-FFC5-EAD913D8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C2AF21-6D7E-A109-34C1-8ADA8591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2E407D-681F-E9A6-8DAC-853BB8A0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81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03EC08-B219-350E-4CA6-775ABDF51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27990-45B5-0DFB-005E-C4709E81F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E4780E-F473-23F2-FBA7-17CAF203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231394-A60F-6733-F1ED-C5CC4FE1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B22318-8DC5-9448-F121-2AC33BA2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762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489FF-3AAA-769D-FBFE-E0679BF1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991508-E41F-E8F3-DA46-D1D040EA8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00F33D-4999-2BF2-23C5-F445DCAC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C0FD3D-3805-6228-32AE-B9B2F05C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DF25ED-D649-1640-DEF6-2841CA78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0475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BF8D52-FC05-E797-E0C3-59CDBD12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B9D5AE-D17D-2FF0-594B-7A4D9E211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742ABC-3554-CFBE-D50A-0090389FD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70373-1963-45BE-87A2-2213EA8D3FE8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520CBE-739B-BA30-4A55-F3290B63E2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AB866B-527D-531B-27A8-4EE588595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293C5-3C58-4CA7-9BF5-C8C7AE7969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8433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88F32-A1FD-DF81-01E4-DA4A59C6B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L" sz="4400" b="1">
                <a:solidFill>
                  <a:srgbClr val="EA8832"/>
                </a:solidFill>
              </a:rPr>
              <a:t>ArchiCheck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2DC25A-D0E3-264F-69CC-F22822FE76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s-CL" sz="2000"/>
              <a:t>IA que revisa planos arquitectonicos contra la normativa vigente, antes de llegar a la DOM</a:t>
            </a:r>
          </a:p>
          <a:p>
            <a:endParaRPr lang="es-CL" sz="2000"/>
          </a:p>
          <a:p>
            <a:r>
              <a:rPr lang="es-CL" sz="2000"/>
              <a:t>NML SpA - Nunoa, Region Metropolitana, Chile - archicheck-xi.vercel.app</a:t>
            </a:r>
          </a:p>
        </p:txBody>
      </p:sp>
    </p:spTree>
    <p:extLst>
      <p:ext uri="{BB962C8B-B14F-4D97-AF65-F5344CB8AC3E}">
        <p14:creationId xmlns:p14="http://schemas.microsoft.com/office/powerpoint/2010/main" val="335560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94E84-C813-B90E-158B-11534C2F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800" b="1">
                <a:solidFill>
                  <a:srgbClr val="EA8832"/>
                </a:solidFill>
              </a:rPr>
              <a:t>El problema: el permiso paraliza la obra</a:t>
            </a:r>
            <a:endParaRPr lang="es-CL" sz="2800" b="1">
              <a:solidFill>
                <a:srgbClr val="EA883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138511-245E-DD33-E49A-430476122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600"/>
              <a:t>Norma exige 95 dias - CChC observa un promedio real muy superior</a:t>
            </a:r>
          </a:p>
          <a:p>
            <a:r>
              <a:rPr lang="es-ES" sz="1600"/>
              <a:t>Colliers / Portal Inmobiliario reporta 848 dias de tramitacion</a:t>
            </a:r>
          </a:p>
          <a:p>
            <a:r>
              <a:rPr lang="es-ES" sz="1600"/>
              <a:t>Declarado oficialmente en la postulacion: mas de 800 dias</a:t>
            </a:r>
          </a:p>
          <a:p>
            <a:r>
              <a:rPr lang="es-ES" sz="1600"/>
              <a:t>Las revisiones (independientes + DOM) explican mas del 70% de ese tiempo</a:t>
            </a:r>
          </a:p>
          <a:p>
            <a:endParaRPr lang="es-ES" sz="1600"/>
          </a:p>
          <a:p>
            <a:r>
              <a:rPr lang="es-ES" sz="1600"/>
              <a:t>Impacto real:</a:t>
            </a:r>
          </a:p>
          <a:p>
            <a:r>
              <a:rPr lang="es-ES" sz="1600"/>
              <a:t>Edificio 9 pisos (UF 207.360): +UF 16.589 (+8%) en costo financiero por 753 dias de atraso</a:t>
            </a:r>
          </a:p>
          <a:p>
            <a:r>
              <a:rPr lang="es-ES" sz="1600"/>
              <a:t>Ampliacion comercial menor a 100 m2 (UF 2.400): UF 6.000 (+250%) en ventas perdidas por 6 meses de cierre</a:t>
            </a:r>
          </a:p>
          <a:p>
            <a:r>
              <a:rPr lang="es-ES" sz="1600"/>
              <a:t>Vivienda particular (UF 5.000): +UF 745 (+15%) en arriendo y equipo en espera por 6 meses</a:t>
            </a:r>
            <a:endParaRPr lang="es-CL" sz="1600"/>
          </a:p>
        </p:txBody>
      </p:sp>
    </p:spTree>
    <p:extLst>
      <p:ext uri="{BB962C8B-B14F-4D97-AF65-F5344CB8AC3E}">
        <p14:creationId xmlns:p14="http://schemas.microsoft.com/office/powerpoint/2010/main" val="383181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E0022-8F91-3FC7-E9C6-AA37FFA3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La solucion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C5858-110C-6D35-B97D-A9C27B2E5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800"/>
              <a:t>Lee la geometria del plano (muros, recintos, puertas, ventanas, cotas)</a:t>
            </a:r>
          </a:p>
          <a:p>
            <a:r>
              <a:rPr lang="es-ES" sz="1800"/>
              <a:t>Contrasta articulo por articulo contra OGUC, LGUC, DDU y PRC comunal</a:t>
            </a:r>
          </a:p>
          <a:p>
            <a:r>
              <a:rPr lang="es-ES" sz="1800"/>
              <a:t>Disponible 24/7 desde la etapa de anteproyecto - no solo antes del ingreso</a:t>
            </a:r>
          </a:p>
          <a:p>
            <a:r>
              <a:rPr lang="es-ES" sz="1800"/>
              <a:t>Reanalisis ilimitado: incorpora el feedback del arquitecto en revisiones futuras</a:t>
            </a:r>
          </a:p>
          <a:p>
            <a:r>
              <a:rPr lang="es-ES" sz="1800"/>
              <a:t>Dataset propio de 954 planos chilenos (MLSTRUCT-FP) para convenciones locales</a:t>
            </a:r>
          </a:p>
          <a:p>
            <a:endParaRPr lang="es-ES" sz="1800"/>
          </a:p>
          <a:p>
            <a:r>
              <a:rPr lang="es-ES" sz="1800"/>
              <a:t>Caso piloto directo contra Revi (plataforma de la CChC), mismo proyecto:</a:t>
            </a:r>
          </a:p>
          <a:p>
            <a:r>
              <a:rPr lang="es-ES" sz="1800"/>
              <a:t>ArchiCheck: 40 hallazgos  -  Revi: 7 hallazgos</a:t>
            </a:r>
            <a:endParaRPr lang="es-CL" sz="1800"/>
          </a:p>
        </p:txBody>
      </p:sp>
    </p:spTree>
    <p:extLst>
      <p:ext uri="{BB962C8B-B14F-4D97-AF65-F5344CB8AC3E}">
        <p14:creationId xmlns:p14="http://schemas.microsoft.com/office/powerpoint/2010/main" val="3848627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64E26-C1C5-380E-A3C1-EAFE8AB5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Oferta actual en Chile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038E55-3A3A-9BE8-7748-58C4FFEB5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600"/>
              <a:t>Revi (CChC): revisa consistencia y contenido documental. Rapido y 24x7, pero analisis de plano basico e inexacto. Incluido en la CChC.</a:t>
            </a:r>
          </a:p>
          <a:p>
            <a:r>
              <a:rPr lang="es-ES" sz="1600"/>
              <a:t>Revisor independiente: revision manual articulo por articulo, profundidad tecnica real. Lento, varia por persona, tiempo incierto. Precio: 0,5% del proyecto completo.</a:t>
            </a:r>
          </a:p>
          <a:p>
            <a:r>
              <a:rPr lang="es-ES" sz="1600"/>
              <a:t>Herramientas globales (Archistar AI PreCheck, CodeComply.ai, CivCheck, Blitz AI): sin presencia en Chile ni cruce con normativa local.</a:t>
            </a:r>
            <a:endParaRPr lang="es-CL" sz="1600"/>
          </a:p>
        </p:txBody>
      </p:sp>
    </p:spTree>
    <p:extLst>
      <p:ext uri="{BB962C8B-B14F-4D97-AF65-F5344CB8AC3E}">
        <p14:creationId xmlns:p14="http://schemas.microsoft.com/office/powerpoint/2010/main" val="16561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E54DE-F363-9DA4-7764-FBD695F4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Mercado (Chile)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2CEDFD-95C0-3CA1-597E-0AF69E3E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TAM: USD 6,0M/ano  -  60.000 expedientes/ano x USD 100</a:t>
            </a:r>
          </a:p>
          <a:p>
            <a:r>
              <a:rPr lang="pt-BR" sz="1800"/>
              <a:t>SAM: USD 3,8M/ano  -  38.400 expedientes (excluye obras menores)</a:t>
            </a:r>
          </a:p>
          <a:p>
            <a:r>
              <a:rPr lang="pt-BR" sz="1800"/>
              <a:t>SOM: USD 600K/ano  -  meta a 3 anos</a:t>
            </a:r>
          </a:p>
          <a:p>
            <a:endParaRPr lang="pt-BR" sz="1800"/>
          </a:p>
          <a:p>
            <a:r>
              <a:rPr lang="pt-BR" sz="1800"/>
              <a:t>Go-to-market:</a:t>
            </a:r>
          </a:p>
          <a:p>
            <a:r>
              <a:rPr lang="pt-BR" sz="1800"/>
              <a:t>Ano 1: 20 estudios via canal AOA y Colegio de Arquitectos - 20 comunas</a:t>
            </a:r>
          </a:p>
          <a:p>
            <a:r>
              <a:rPr lang="pt-BR" sz="1800"/>
              <a:t>Ano 2: 70 estudios - municipios via FIC-R/FNDR - inicio Latam</a:t>
            </a:r>
          </a:p>
          <a:p>
            <a:r>
              <a:rPr lang="pt-BR" sz="1800"/>
              <a:t>Ano 3: expansion Latam - Peru, Colombia, Argentina</a:t>
            </a:r>
            <a:endParaRPr lang="es-CL" sz="1800"/>
          </a:p>
        </p:txBody>
      </p:sp>
    </p:spTree>
    <p:extLst>
      <p:ext uri="{BB962C8B-B14F-4D97-AF65-F5344CB8AC3E}">
        <p14:creationId xmlns:p14="http://schemas.microsoft.com/office/powerpoint/2010/main" val="329224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A6AE6-B7E1-2689-74B2-A116E157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Modelo de negocio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6A9BE1-586E-BD4C-2728-339C4FC00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600"/>
              <a:t>Segmentos: estudios pequenos-medianos (early adopters), estudios grandes con volumen recurrente, revisores independientes, CChC/Revi</a:t>
            </a:r>
          </a:p>
          <a:p>
            <a:r>
              <a:rPr lang="es-CL" sz="1600"/>
              <a:t>Canales: AOA + Colegio de Arquitectos (directo), referidos, ferias de industria</a:t>
            </a:r>
          </a:p>
          <a:p>
            <a:r>
              <a:rPr lang="es-CL" sz="1600"/>
              <a:t>Revenue: USD 50-100 por expediente, o suscripcion USD 500/mes ilimitado. Via B2G futura (municipios, FNDR/FIC-R). Precio final por validar con primeros clientes.</a:t>
            </a:r>
          </a:p>
          <a:p>
            <a:endParaRPr lang="es-CL" sz="1600"/>
          </a:p>
          <a:p>
            <a:r>
              <a:rPr lang="es-CL" sz="1600"/>
              <a:t>Unit economics: LTV USD 7.000/estudio - CAC USD 300/estudio (hipotesis) - LTV/CAC 23x - MRR mes 12 (modelo anual) USD 15.750</a:t>
            </a:r>
          </a:p>
        </p:txBody>
      </p:sp>
    </p:spTree>
    <p:extLst>
      <p:ext uri="{BB962C8B-B14F-4D97-AF65-F5344CB8AC3E}">
        <p14:creationId xmlns:p14="http://schemas.microsoft.com/office/powerpoint/2010/main" val="342398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AC93F-9AF8-A95A-E2F7-6D6FB7A5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Traccion y roadmap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9EA848-15B7-F206-9D6B-94CFF49C0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700"/>
              <a:t>Completado: motor normativo OGUC/DDU/PRC - vectorizacion geometrica - deteccion de elementos - precision ~75-80%</a:t>
            </a:r>
          </a:p>
          <a:p>
            <a:r>
              <a:rPr lang="es-CL" sz="1700"/>
              <a:t>Ignite (proximos 4 meses): validacion con arquitectos reales - 10 comunas RM - multi-documento</a:t>
            </a:r>
          </a:p>
          <a:p>
            <a:r>
              <a:rPr lang="es-CL" sz="1700"/>
              <a:t>Post-Ignite: escala con revisores privados, canal CChC, municipios B2G, expansion Latam</a:t>
            </a:r>
          </a:p>
          <a:p>
            <a:endParaRPr lang="es-CL" sz="1700"/>
          </a:p>
          <a:p>
            <a:r>
              <a:rPr lang="es-CL" sz="1700"/>
              <a:t>Metas concretas a 4 meses (Ignite):</a:t>
            </a:r>
          </a:p>
          <a:p>
            <a:r>
              <a:rPr lang="es-CL" sz="1700"/>
              <a:t>10 estudios de arquitectura activos  -  10 comunas RM incorporadas  -  MRR USD 6.000  -  precision &gt;=90% validada</a:t>
            </a:r>
          </a:p>
        </p:txBody>
      </p:sp>
    </p:spTree>
    <p:extLst>
      <p:ext uri="{BB962C8B-B14F-4D97-AF65-F5344CB8AC3E}">
        <p14:creationId xmlns:p14="http://schemas.microsoft.com/office/powerpoint/2010/main" val="396296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4F9C5-E9BB-379D-F72A-FA41AED8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Equipo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B6C54C-B20F-5DBA-C87B-0BECCED5A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1600"/>
              <a:t>Nicolas Estragues - CEO / Team Leader (100% full-time)</a:t>
            </a:r>
          </a:p>
          <a:p>
            <a:r>
              <a:rPr lang="es-ES" sz="1600"/>
              <a:t>Ing. Civil Industrial + Magister en Marketing y Gestion Comercial (U. de Chile) - 23 anos de experiencia en desarrollo de producto, fintech y expansion de mercado</a:t>
            </a:r>
          </a:p>
          <a:p>
            <a:endParaRPr lang="es-ES" sz="1600"/>
          </a:p>
          <a:p>
            <a:r>
              <a:rPr lang="es-ES" sz="1600"/>
              <a:t>Cristian Wrbka - Industry Expert (menos de 20% dedicacion)</a:t>
            </a:r>
          </a:p>
          <a:p>
            <a:r>
              <a:rPr lang="es-ES" sz="1600"/>
              <a:t>Magister en Arquitectura (UC) - 20 anos en proyectos de innovacion y redes de industria - acceso AOA + Colegio de Arquitectos</a:t>
            </a:r>
          </a:p>
          <a:p>
            <a:endParaRPr lang="es-ES" sz="1600"/>
          </a:p>
          <a:p>
            <a:r>
              <a:rPr lang="es-ES" sz="1600"/>
              <a:t>Jose Allue - CPO (menos de 20% dedicacion)</a:t>
            </a:r>
          </a:p>
          <a:p>
            <a:r>
              <a:rPr lang="es-ES" sz="1600"/>
              <a:t>18 anos preparando expedientes y enfrentando revisiones DOM en la practica - valido el motor normativo</a:t>
            </a:r>
            <a:endParaRPr lang="es-CL" sz="1600"/>
          </a:p>
        </p:txBody>
      </p:sp>
    </p:spTree>
    <p:extLst>
      <p:ext uri="{BB962C8B-B14F-4D97-AF65-F5344CB8AC3E}">
        <p14:creationId xmlns:p14="http://schemas.microsoft.com/office/powerpoint/2010/main" val="352458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35541-4815-10E5-845C-4A0B8F5C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b="1">
                <a:solidFill>
                  <a:srgbClr val="EA8832"/>
                </a:solidFill>
              </a:rPr>
              <a:t>Financiamiento y contacto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722908-16CC-CBA5-CFE8-6B9E22CBF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sz="1800"/>
              <a:t>USD 31.000 (CLP 30MM) Start-Up Chile, linea Ignite - postulado, pendiente de resultado</a:t>
            </a:r>
          </a:p>
          <a:p>
            <a:r>
              <a:rPr lang="es-CL" sz="1800"/>
              <a:t>USD 8.000 inversionista angel - en conversacion, no cerrado</a:t>
            </a:r>
          </a:p>
          <a:p>
            <a:r>
              <a:rPr lang="es-CL" sz="1800"/>
              <a:t>Sin capital previo levantado - sin deuda - sin valorizacion formal</a:t>
            </a:r>
          </a:p>
          <a:p>
            <a:endParaRPr lang="es-CL" sz="1800"/>
          </a:p>
          <a:p>
            <a:r>
              <a:rPr lang="es-CL" sz="1800"/>
              <a:t>NML SpA - RUT 77.860.293-8 - Nunoa, Region Metropolitana</a:t>
            </a:r>
          </a:p>
          <a:p>
            <a:r>
              <a:rPr lang="es-CL" sz="1800"/>
              <a:t>archicheck-xi.vercel.app</a:t>
            </a:r>
          </a:p>
          <a:p>
            <a:r>
              <a:rPr lang="es-CL" sz="1800"/>
              <a:t>[email de contacto]</a:t>
            </a:r>
          </a:p>
        </p:txBody>
      </p:sp>
    </p:spTree>
    <p:extLst>
      <p:ext uri="{BB962C8B-B14F-4D97-AF65-F5344CB8AC3E}">
        <p14:creationId xmlns:p14="http://schemas.microsoft.com/office/powerpoint/2010/main" val="416529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PresentationFormat>Carta (216 x 279 mm)</PresentationFormat>
  <Paragraphs>66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ArchiCheck</vt:lpstr>
      <vt:lpstr>El problema: el permiso paraliza la obra</vt:lpstr>
      <vt:lpstr>La solucion</vt:lpstr>
      <vt:lpstr>Oferta actual en Chile</vt:lpstr>
      <vt:lpstr>Mercado (Chile)</vt:lpstr>
      <vt:lpstr>Modelo de negocio</vt:lpstr>
      <vt:lpstr>Traccion y roadmap</vt:lpstr>
      <vt:lpstr>Equipo</vt:lpstr>
      <vt:lpstr>Financiamiento y contacto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Estragues Nuñez</dc:creator>
  <cp:lastModifiedBy>Nicolás Estragues Nuñez</cp:lastModifiedBy>
  <cp:revision>1</cp:revision>
  <dcterms:created xsi:type="dcterms:W3CDTF">2026-08-10T22:43:24Z</dcterms:created>
  <dcterms:modified xsi:type="dcterms:W3CDTF">2026-08-10T22:43:24Z</dcterms:modified>
</cp:coreProperties>
</file>